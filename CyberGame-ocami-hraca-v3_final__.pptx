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" name="Shape 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Titulny slide. Stoj, cakaj kym miestnost stichne. Zacni priamo bez uvodu.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" name="Shape 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0:00-1:30. Drop #8/920 vizualne, potom personal story. Otazka visi - 3 sekundy ticha pred prechodom.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" name="Shape 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1:30-4:00. Tri cisla rychlo. ISC2: skills gap &gt; headcount, 95% firiem hlasi potrebu zrucnosti. AI Kompas: bariéra je metodicka podpora nie strach.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" name="Shape 1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4:00-7:00. SDT = tri potreby. Praca = compliance, CTF = identita. Tieto potreby su psychologicke ziviny ako jedlo alebo spanok.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0" name="Shape 1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7:00-9:30. Stvrte fazy - osobny pribeh. 03 strop je klucovy: CTF ti nedovoli skryt sa za specializaciu. 04 zaverecne kola: problemy bez navodu, ciste uvazovanie pod tlakom = zrucnost ktoru nejde naucit z knihy.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1" name="Shape 1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9:30-11:30. AI je nova premenna nie hrozba. Tri uhly: hrac, tvorca, ucitel. Kluclova pointa: AI-rezistentne vzdelavanie je naturally CTF-style - multi-krok, kontext, kreativita.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" name="Shape 1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11:30-12:30. Klucova myslienka pre ucitelov. Student = jedinecna pozicia. Okno intrinsichoducenia je kratke. CTF ho vyuziva prirodzene.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Shape 2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12:30-13:15. Tacit knowledge - veci ktore nie su v knihach. CTF = najblizsi simulator realnych problemov v skolskom prostredi. Transfer: uvazovanie pod tlakom bez instrukicii.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8" name="Shape 2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13:15-14:00. Najsilnejsia myslienka pre ucitelov. Talent sa ukazuje v bezpecnom prostredi. Intrinsic drive = prediktor excelentnosti. Ucitel ako objavitel nie tvorca.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1" name="Shape 2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14:00-14:40. Rychle, prakticke. Princp je prenosny - netreba sútaz. Ucitelova rola nezmizne - scaffolding robi flow trvalym.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3" name="Shape 2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14:40-15:00. Callback na cold open. Tvrdy stop. Kontakty na slide ak sa niekto chce ozvať neskor.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778240" y="-2011680"/>
            <a:ext cx="6400803" cy="6400803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E7C7B">
                <a:alpha val="300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9509758" y="-1280162"/>
            <a:ext cx="4937764" cy="4937764"/>
          </a:xfrm>
          <a:prstGeom prst="ellipse">
            <a:avLst/>
          </a:prstGeom>
          <a:ln w="12700">
            <a:solidFill>
              <a:srgbClr val="0E7C7B">
                <a:alpha val="450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822960" y="1471098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300">
                <a:solidFill>
                  <a:srgbClr val="0E7C7B"/>
                </a:solidFill>
              </a:defRPr>
            </a:lvl1pPr>
          </a:lstStyle>
          <a:p>
            <a:pPr/>
            <a:r>
              <a:t>OSOBNÁ VÝPOVEĎ HRÁČA · 15 MIN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77240" y="2002788"/>
            <a:ext cx="9601201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CyberGame očami hráča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822960" y="3076028"/>
            <a:ext cx="86868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C7D0DE"/>
                </a:solidFill>
              </a:defRPr>
            </a:lvl1pPr>
          </a:lstStyle>
          <a:p>
            <a:pPr/>
            <a:r>
              <a:t>Čo mi dala kybernetická súťaž a čo môže dať vašim študentom</a:t>
            </a:r>
          </a:p>
        </p:txBody>
      </p:sp>
      <p:sp>
        <p:nvSpPr>
          <p:cNvPr id="25" name="Shape 5"/>
          <p:cNvSpPr/>
          <p:nvPr/>
        </p:nvSpPr>
        <p:spPr>
          <a:xfrm>
            <a:off x="822960" y="3703320"/>
            <a:ext cx="2011680" cy="2"/>
          </a:xfrm>
          <a:prstGeom prst="line">
            <a:avLst/>
          </a:prstGeom>
          <a:ln w="254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822960" y="4020120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8893A3"/>
                </a:solidFill>
              </a:defRPr>
            </a:lvl1pPr>
          </a:lstStyle>
          <a:p>
            <a:pPr/>
            <a:r>
              <a:t>Ivan Oravec ml.  ·  e0 Security  ·  e0sec@proton.me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822960" y="4488619"/>
            <a:ext cx="8229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7C7B"/>
                </a:solidFill>
              </a:defRPr>
            </a:lvl1pPr>
          </a:lstStyle>
          <a:p>
            <a:pPr/>
            <a:r>
              <a:t>CyberGame Slovakia 2026  ·  8. miesto / 920 súťažiačich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 txBox="1"/>
          <p:nvPr/>
        </p:nvSpPr>
        <p:spPr>
          <a:xfrm>
            <a:off x="548640" y="515926"/>
            <a:ext cx="10058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7B"/>
                </a:solidFill>
              </a:defRPr>
            </a:lvl1pPr>
          </a:lstStyle>
          <a:p>
            <a:pPr/>
            <a:r>
              <a:t>0:00 — 1:30 · OSOBNÁ VÝPOVEĎ</a:t>
            </a:r>
          </a:p>
        </p:txBody>
      </p:sp>
      <p:sp>
        <p:nvSpPr>
          <p:cNvPr id="32" name="Text 1"/>
          <p:cNvSpPr txBox="1"/>
          <p:nvPr/>
        </p:nvSpPr>
        <p:spPr>
          <a:xfrm>
            <a:off x="822960" y="1379219"/>
            <a:ext cx="6858001" cy="1813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8. miesto.</a:t>
            </a:r>
          </a:p>
          <a:p>
            <a:pPr>
              <a:lnSpc>
                <a:spcPct val="120000"/>
              </a:lnSpc>
              <a:defRPr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920 súťažiačich.</a:t>
            </a:r>
          </a:p>
          <a:p>
            <a:pPr>
              <a:lnSpc>
                <a:spcPct val="120000"/>
              </a:lnSpc>
              <a:defRPr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A otázka, ktorú som nečakal.</a:t>
            </a:r>
          </a:p>
        </p:txBody>
      </p:sp>
      <p:sp>
        <p:nvSpPr>
          <p:cNvPr id="33" name="Shape 2"/>
          <p:cNvSpPr/>
          <p:nvPr/>
        </p:nvSpPr>
        <p:spPr>
          <a:xfrm>
            <a:off x="8229600" y="13716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A2F5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" name="Text 3"/>
          <p:cNvSpPr txBox="1"/>
          <p:nvPr/>
        </p:nvSpPr>
        <p:spPr>
          <a:xfrm>
            <a:off x="8321040" y="1670049"/>
            <a:ext cx="3200402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200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#8</a:t>
            </a:r>
          </a:p>
        </p:txBody>
      </p:sp>
      <p:sp>
        <p:nvSpPr>
          <p:cNvPr id="35" name="Text 4"/>
          <p:cNvSpPr txBox="1"/>
          <p:nvPr/>
        </p:nvSpPr>
        <p:spPr>
          <a:xfrm>
            <a:off x="8321040" y="2581341"/>
            <a:ext cx="320040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AEB8C4"/>
                </a:solidFill>
              </a:defRPr>
            </a:lvl1pPr>
          </a:lstStyle>
          <a:p>
            <a:pPr/>
            <a:r>
              <a:t>zo 920</a:t>
            </a:r>
          </a:p>
        </p:txBody>
      </p:sp>
      <p:sp>
        <p:nvSpPr>
          <p:cNvPr id="36" name="Text 5"/>
          <p:cNvSpPr txBox="1"/>
          <p:nvPr/>
        </p:nvSpPr>
        <p:spPr>
          <a:xfrm>
            <a:off x="8321040" y="2904665"/>
            <a:ext cx="32004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100">
                <a:solidFill>
                  <a:srgbClr val="5B6779"/>
                </a:solidFill>
              </a:defRPr>
            </a:lvl1pPr>
          </a:lstStyle>
          <a:p>
            <a:pPr/>
            <a:r>
              <a:t>CyberGame SK 2026</a:t>
            </a:r>
          </a:p>
        </p:txBody>
      </p:sp>
      <p:sp>
        <p:nvSpPr>
          <p:cNvPr id="37" name="Shape 6"/>
          <p:cNvSpPr/>
          <p:nvPr/>
        </p:nvSpPr>
        <p:spPr>
          <a:xfrm>
            <a:off x="822960" y="3657600"/>
            <a:ext cx="6858001" cy="0"/>
          </a:xfrm>
          <a:prstGeom prst="line">
            <a:avLst/>
          </a:prstGeom>
          <a:ln w="12700">
            <a:solidFill>
              <a:srgbClr val="37456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" name="Text 7"/>
          <p:cNvSpPr txBox="1"/>
          <p:nvPr/>
        </p:nvSpPr>
        <p:spPr>
          <a:xfrm>
            <a:off x="822960" y="3941643"/>
            <a:ext cx="7772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C7D0DE"/>
                </a:solidFill>
              </a:defRPr>
            </a:lvl1pPr>
          </a:lstStyle>
          <a:p>
            <a:pPr/>
            <a:r>
              <a:t>V roku 2019 som si sadol k prvému CTF.</a:t>
            </a:r>
          </a:p>
        </p:txBody>
      </p:sp>
      <p:sp>
        <p:nvSpPr>
          <p:cNvPr id="39" name="Text 8"/>
          <p:cNvSpPr txBox="1"/>
          <p:nvPr/>
        </p:nvSpPr>
        <p:spPr>
          <a:xfrm>
            <a:off x="822960" y="4353123"/>
            <a:ext cx="7772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AEB8C4"/>
                </a:solidFill>
              </a:defRPr>
            </a:lvl1pPr>
          </a:lstStyle>
          <a:p>
            <a:pPr/>
            <a:r>
              <a:t>Mal som za sebou desať rokov v bezpečnosti. A nebol som dobrý.</a:t>
            </a:r>
          </a:p>
        </p:txBody>
      </p:sp>
      <p:sp>
        <p:nvSpPr>
          <p:cNvPr id="40" name="Text 9"/>
          <p:cNvSpPr txBox="1"/>
          <p:nvPr/>
        </p:nvSpPr>
        <p:spPr>
          <a:xfrm>
            <a:off x="822960" y="4810323"/>
            <a:ext cx="7772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AEB8C4"/>
                </a:solidFill>
              </a:defRPr>
            </a:lvl1pPr>
          </a:lstStyle>
          <a:p>
            <a:pPr/>
            <a:r>
              <a:t>CTF mi ukázal, čo všetko neviem. A namiesto toho, aby ma to odradilo — vtiahlo ma to hlbšie.</a:t>
            </a:r>
          </a:p>
        </p:txBody>
      </p:sp>
      <p:sp>
        <p:nvSpPr>
          <p:cNvPr id="41" name="Text 10"/>
          <p:cNvSpPr txBox="1"/>
          <p:nvPr/>
        </p:nvSpPr>
        <p:spPr>
          <a:xfrm>
            <a:off x="822960" y="5415279"/>
            <a:ext cx="77724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Prečo je toto zaujímavejšie ako moja práca?</a:t>
            </a:r>
          </a:p>
        </p:txBody>
      </p:sp>
      <p:sp>
        <p:nvSpPr>
          <p:cNvPr id="42" name="Text 11"/>
          <p:cNvSpPr txBox="1"/>
          <p:nvPr/>
        </p:nvSpPr>
        <p:spPr>
          <a:xfrm>
            <a:off x="11521440" y="651514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779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3" name="Text 12"/>
          <p:cNvSpPr txBox="1"/>
          <p:nvPr/>
        </p:nvSpPr>
        <p:spPr>
          <a:xfrm>
            <a:off x="548640" y="652018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3A3"/>
                </a:solidFill>
              </a:defRPr>
            </a:lvl1pPr>
          </a:lstStyle>
          <a:p>
            <a:pPr/>
            <a:r>
              <a:t>CyberGame očami hrača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 txBox="1"/>
          <p:nvPr/>
        </p:nvSpPr>
        <p:spPr>
          <a:xfrm>
            <a:off x="548640" y="515926"/>
            <a:ext cx="10058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7B"/>
                </a:solidFill>
              </a:defRPr>
            </a:lvl1pPr>
          </a:lstStyle>
          <a:p>
            <a:pPr/>
            <a:r>
              <a:t>PREČO NA TOM ZÁLEŽÍ</a:t>
            </a:r>
          </a:p>
        </p:txBody>
      </p:sp>
      <p:sp>
        <p:nvSpPr>
          <p:cNvPr id="48" name="Text 1"/>
          <p:cNvSpPr txBox="1"/>
          <p:nvPr/>
        </p:nvSpPr>
        <p:spPr>
          <a:xfrm>
            <a:off x="548640" y="862330"/>
            <a:ext cx="100584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1B233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Tri medzery. Jeden nástroj.</a:t>
            </a:r>
          </a:p>
        </p:txBody>
      </p:sp>
      <p:sp>
        <p:nvSpPr>
          <p:cNvPr id="49" name="Shape 2"/>
          <p:cNvSpPr/>
          <p:nvPr/>
        </p:nvSpPr>
        <p:spPr>
          <a:xfrm>
            <a:off x="502919" y="1691638"/>
            <a:ext cx="3611882" cy="3291844"/>
          </a:xfrm>
          <a:prstGeom prst="roundRect">
            <a:avLst>
              <a:gd name="adj" fmla="val 2222"/>
            </a:avLst>
          </a:prstGeom>
          <a:solidFill>
            <a:srgbClr val="EEF2F7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7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0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7240" y="1920238"/>
            <a:ext cx="457202" cy="457203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Text 3"/>
          <p:cNvSpPr txBox="1"/>
          <p:nvPr/>
        </p:nvSpPr>
        <p:spPr>
          <a:xfrm>
            <a:off x="777240" y="2613659"/>
            <a:ext cx="306324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7 z 10</a:t>
            </a:r>
          </a:p>
        </p:txBody>
      </p:sp>
      <p:sp>
        <p:nvSpPr>
          <p:cNvPr id="52" name="Text 4"/>
          <p:cNvSpPr txBox="1"/>
          <p:nvPr/>
        </p:nvSpPr>
        <p:spPr>
          <a:xfrm>
            <a:off x="777240" y="3497493"/>
            <a:ext cx="3063240" cy="411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1B2330"/>
                </a:solidFill>
              </a:defRPr>
            </a:lvl1pPr>
          </a:lstStyle>
          <a:p>
            <a:pPr/>
            <a:r>
              <a:t>detí nevie čítať s porozumením vo veku 10 rokov</a:t>
            </a:r>
          </a:p>
        </p:txBody>
      </p:sp>
      <p:sp>
        <p:nvSpPr>
          <p:cNvPr id="53" name="Text 5"/>
          <p:cNvSpPr txBox="1"/>
          <p:nvPr/>
        </p:nvSpPr>
        <p:spPr>
          <a:xfrm>
            <a:off x="777240" y="4434883"/>
            <a:ext cx="30632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5B6779"/>
                </a:solidFill>
              </a:defRPr>
            </a:lvl1pPr>
          </a:lstStyle>
          <a:p>
            <a:pPr/>
            <a:r>
              <a:t>World Bank / UNESCO 2024</a:t>
            </a:r>
          </a:p>
        </p:txBody>
      </p:sp>
      <p:sp>
        <p:nvSpPr>
          <p:cNvPr id="54" name="Shape 6"/>
          <p:cNvSpPr/>
          <p:nvPr/>
        </p:nvSpPr>
        <p:spPr>
          <a:xfrm>
            <a:off x="4279391" y="1691638"/>
            <a:ext cx="3611882" cy="3291844"/>
          </a:xfrm>
          <a:prstGeom prst="roundRect">
            <a:avLst>
              <a:gd name="adj" fmla="val 2222"/>
            </a:avLst>
          </a:prstGeom>
          <a:solidFill>
            <a:srgbClr val="EEF2F7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7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5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53710" y="1920238"/>
            <a:ext cx="457202" cy="457203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Text 7"/>
          <p:cNvSpPr txBox="1"/>
          <p:nvPr/>
        </p:nvSpPr>
        <p:spPr>
          <a:xfrm>
            <a:off x="4553710" y="2613659"/>
            <a:ext cx="30632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4,76 mil.</a:t>
            </a:r>
          </a:p>
        </p:txBody>
      </p:sp>
      <p:sp>
        <p:nvSpPr>
          <p:cNvPr id="57" name="Text 8"/>
          <p:cNvSpPr txBox="1"/>
          <p:nvPr/>
        </p:nvSpPr>
        <p:spPr>
          <a:xfrm>
            <a:off x="4553710" y="3497493"/>
            <a:ext cx="3063242" cy="411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1B2330"/>
                </a:solidFill>
              </a:defRPr>
            </a:lvl1pPr>
          </a:lstStyle>
          <a:p>
            <a:pPr/>
            <a:r>
              <a:t>chýbajúce pracovné miesta v kybernetickej bezpečnosti</a:t>
            </a:r>
          </a:p>
        </p:txBody>
      </p:sp>
      <p:sp>
        <p:nvSpPr>
          <p:cNvPr id="58" name="Text 9"/>
          <p:cNvSpPr txBox="1"/>
          <p:nvPr/>
        </p:nvSpPr>
        <p:spPr>
          <a:xfrm>
            <a:off x="4553710" y="4434883"/>
            <a:ext cx="3063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5B6779"/>
                </a:solidFill>
              </a:defRPr>
            </a:lvl1pPr>
          </a:lstStyle>
          <a:p>
            <a:pPr/>
            <a:r>
              <a:t>ISC2 — skills gap, nie headcount</a:t>
            </a:r>
          </a:p>
        </p:txBody>
      </p:sp>
      <p:sp>
        <p:nvSpPr>
          <p:cNvPr id="59" name="Shape 10"/>
          <p:cNvSpPr/>
          <p:nvPr/>
        </p:nvSpPr>
        <p:spPr>
          <a:xfrm>
            <a:off x="8055864" y="1691638"/>
            <a:ext cx="3611882" cy="3291844"/>
          </a:xfrm>
          <a:prstGeom prst="roundRect">
            <a:avLst>
              <a:gd name="adj" fmla="val 2222"/>
            </a:avLst>
          </a:prstGeom>
          <a:solidFill>
            <a:srgbClr val="EEF2F7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7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0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330183" y="1920238"/>
            <a:ext cx="457202" cy="457203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 11"/>
          <p:cNvSpPr txBox="1"/>
          <p:nvPr/>
        </p:nvSpPr>
        <p:spPr>
          <a:xfrm>
            <a:off x="8330182" y="2613659"/>
            <a:ext cx="306324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26 %</a:t>
            </a:r>
          </a:p>
        </p:txBody>
      </p:sp>
      <p:sp>
        <p:nvSpPr>
          <p:cNvPr id="62" name="Text 12"/>
          <p:cNvSpPr txBox="1"/>
          <p:nvPr/>
        </p:nvSpPr>
        <p:spPr>
          <a:xfrm>
            <a:off x="8330182" y="3497493"/>
            <a:ext cx="3063243" cy="411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1B2330"/>
                </a:solidFill>
              </a:defRPr>
            </a:lvl1pPr>
          </a:lstStyle>
          <a:p>
            <a:pPr/>
            <a:r>
              <a:t>učiteľov používa AI priamo so žiakmi na hodine</a:t>
            </a:r>
          </a:p>
        </p:txBody>
      </p:sp>
      <p:sp>
        <p:nvSpPr>
          <p:cNvPr id="63" name="Text 13"/>
          <p:cNvSpPr txBox="1"/>
          <p:nvPr/>
        </p:nvSpPr>
        <p:spPr>
          <a:xfrm>
            <a:off x="8330182" y="4434883"/>
            <a:ext cx="306324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5B6779"/>
                </a:solidFill>
              </a:defRPr>
            </a:lvl1pPr>
          </a:lstStyle>
          <a:p>
            <a:pPr/>
            <a:r>
              <a:t>AI Kompas 2025, Hapalová &amp; Beranová</a:t>
            </a:r>
          </a:p>
        </p:txBody>
      </p:sp>
      <p:sp>
        <p:nvSpPr>
          <p:cNvPr id="64" name="Text 14"/>
          <p:cNvSpPr txBox="1"/>
          <p:nvPr/>
        </p:nvSpPr>
        <p:spPr>
          <a:xfrm>
            <a:off x="548638" y="5380158"/>
            <a:ext cx="1078992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300">
                <a:solidFill>
                  <a:srgbClr val="0E7C7B"/>
                </a:solidFill>
              </a:defRPr>
            </a:lvl1pPr>
          </a:lstStyle>
          <a:p>
            <a:pPr/>
            <a:r>
              <a:t>Bariéra nie je strach z AI ani z kybernetiky — je to absencia metodickej podpory a skúsenosti. Presne to, čo CTF formát priamo adresuje.</a:t>
            </a:r>
          </a:p>
        </p:txBody>
      </p:sp>
      <p:sp>
        <p:nvSpPr>
          <p:cNvPr id="65" name="Text 15"/>
          <p:cNvSpPr txBox="1"/>
          <p:nvPr/>
        </p:nvSpPr>
        <p:spPr>
          <a:xfrm>
            <a:off x="11521440" y="651514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AEB8C4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6" name="Text 16"/>
          <p:cNvSpPr txBox="1"/>
          <p:nvPr/>
        </p:nvSpPr>
        <p:spPr>
          <a:xfrm>
            <a:off x="548640" y="652018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AA5B1"/>
                </a:solidFill>
              </a:defRPr>
            </a:lvl1pPr>
          </a:lstStyle>
          <a:p>
            <a:pPr/>
            <a:r>
              <a:t>CyberGame očami hrača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 txBox="1"/>
          <p:nvPr/>
        </p:nvSpPr>
        <p:spPr>
          <a:xfrm>
            <a:off x="548640" y="515926"/>
            <a:ext cx="10058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7B"/>
                </a:solidFill>
              </a:defRPr>
            </a:lvl1pPr>
          </a:lstStyle>
          <a:p>
            <a:pPr/>
            <a:r>
              <a:t>TEÓRIA SEBAURČENIA · DECI &amp; RYAN, 1985 / 2000 · 80 000+ CITÁCIÍ</a:t>
            </a:r>
          </a:p>
        </p:txBody>
      </p:sp>
      <p:sp>
        <p:nvSpPr>
          <p:cNvPr id="71" name="Text 1"/>
          <p:cNvSpPr txBox="1"/>
          <p:nvPr/>
        </p:nvSpPr>
        <p:spPr>
          <a:xfrm>
            <a:off x="548640" y="862330"/>
            <a:ext cx="100584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1B233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Čo má CTF, čo práca nemá</a:t>
            </a:r>
          </a:p>
        </p:txBody>
      </p:sp>
      <p:sp>
        <p:nvSpPr>
          <p:cNvPr id="72" name="Shape 2"/>
          <p:cNvSpPr/>
          <p:nvPr/>
        </p:nvSpPr>
        <p:spPr>
          <a:xfrm>
            <a:off x="548640" y="1691638"/>
            <a:ext cx="5029202" cy="4206244"/>
          </a:xfrm>
          <a:prstGeom prst="roundRect">
            <a:avLst>
              <a:gd name="adj" fmla="val 1739"/>
            </a:avLst>
          </a:prstGeom>
          <a:solidFill>
            <a:srgbClr val="121E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" name="Text 3"/>
          <p:cNvSpPr txBox="1"/>
          <p:nvPr/>
        </p:nvSpPr>
        <p:spPr>
          <a:xfrm>
            <a:off x="868678" y="2042598"/>
            <a:ext cx="438912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300">
                <a:solidFill>
                  <a:srgbClr val="0E7C7B"/>
                </a:solidFill>
              </a:defRPr>
            </a:lvl1pPr>
          </a:lstStyle>
          <a:p>
            <a:pPr/>
            <a:r>
              <a:t>Tri vrodené psychologické potreby</a:t>
            </a:r>
          </a:p>
        </p:txBody>
      </p:sp>
      <p:sp>
        <p:nvSpPr>
          <p:cNvPr id="74" name="Shape 4"/>
          <p:cNvSpPr/>
          <p:nvPr/>
        </p:nvSpPr>
        <p:spPr>
          <a:xfrm>
            <a:off x="868680" y="2606038"/>
            <a:ext cx="109731" cy="109731"/>
          </a:xfrm>
          <a:prstGeom prst="ellipse">
            <a:avLst/>
          </a:prstGeom>
          <a:solidFill>
            <a:srgbClr val="0E7C7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" name="Text 5"/>
          <p:cNvSpPr txBox="1"/>
          <p:nvPr/>
        </p:nvSpPr>
        <p:spPr>
          <a:xfrm>
            <a:off x="1097278" y="2581341"/>
            <a:ext cx="4206243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Autonómia</a:t>
            </a:r>
          </a:p>
        </p:txBody>
      </p:sp>
      <p:sp>
        <p:nvSpPr>
          <p:cNvPr id="76" name="Text 6"/>
          <p:cNvSpPr txBox="1"/>
          <p:nvPr/>
        </p:nvSpPr>
        <p:spPr>
          <a:xfrm>
            <a:off x="1097278" y="2998522"/>
            <a:ext cx="420624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AEB8C4"/>
                </a:solidFill>
              </a:defRPr>
            </a:lvl1pPr>
          </a:lstStyle>
          <a:p>
            <a:pPr/>
            <a:r>
              <a:t>Cítim, že sa rozhodujem sám — nie že plním príkazy.</a:t>
            </a:r>
          </a:p>
        </p:txBody>
      </p:sp>
      <p:sp>
        <p:nvSpPr>
          <p:cNvPr id="77" name="Shape 7"/>
          <p:cNvSpPr/>
          <p:nvPr/>
        </p:nvSpPr>
        <p:spPr>
          <a:xfrm>
            <a:off x="868680" y="3611879"/>
            <a:ext cx="109731" cy="109731"/>
          </a:xfrm>
          <a:prstGeom prst="ellipse">
            <a:avLst/>
          </a:prstGeom>
          <a:solidFill>
            <a:srgbClr val="0E7C7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" name="Text 8"/>
          <p:cNvSpPr txBox="1"/>
          <p:nvPr/>
        </p:nvSpPr>
        <p:spPr>
          <a:xfrm>
            <a:off x="1097278" y="3587181"/>
            <a:ext cx="4206243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Kompetencia</a:t>
            </a:r>
          </a:p>
        </p:txBody>
      </p:sp>
      <p:sp>
        <p:nvSpPr>
          <p:cNvPr id="79" name="Text 9"/>
          <p:cNvSpPr txBox="1"/>
          <p:nvPr/>
        </p:nvSpPr>
        <p:spPr>
          <a:xfrm>
            <a:off x="1097278" y="4004362"/>
            <a:ext cx="420624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AEB8C4"/>
                </a:solidFill>
              </a:defRPr>
            </a:lvl1pPr>
          </a:lstStyle>
          <a:p>
            <a:pPr/>
            <a:r>
              <a:t>Dostávam jasnú, okamžitú spätnú väzbu o tom, či som dobrý.</a:t>
            </a:r>
          </a:p>
        </p:txBody>
      </p:sp>
      <p:sp>
        <p:nvSpPr>
          <p:cNvPr id="80" name="Shape 10"/>
          <p:cNvSpPr/>
          <p:nvPr/>
        </p:nvSpPr>
        <p:spPr>
          <a:xfrm>
            <a:off x="868680" y="4617720"/>
            <a:ext cx="109731" cy="109731"/>
          </a:xfrm>
          <a:prstGeom prst="ellipse">
            <a:avLst/>
          </a:prstGeom>
          <a:solidFill>
            <a:srgbClr val="0E7C7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" name="Text 11"/>
          <p:cNvSpPr txBox="1"/>
          <p:nvPr/>
        </p:nvSpPr>
        <p:spPr>
          <a:xfrm>
            <a:off x="1097278" y="4593020"/>
            <a:ext cx="4206243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Vzťahovosť</a:t>
            </a:r>
          </a:p>
        </p:txBody>
      </p:sp>
      <p:sp>
        <p:nvSpPr>
          <p:cNvPr id="82" name="Text 12"/>
          <p:cNvSpPr txBox="1"/>
          <p:nvPr/>
        </p:nvSpPr>
        <p:spPr>
          <a:xfrm>
            <a:off x="1097278" y="5010203"/>
            <a:ext cx="420624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AEB8C4"/>
                </a:solidFill>
              </a:defRPr>
            </a:lvl1pPr>
          </a:lstStyle>
          <a:p>
            <a:pPr/>
            <a:r>
              <a:t>Patrím niekam — tímu, komunite so spoločným cieľom.</a:t>
            </a:r>
          </a:p>
        </p:txBody>
      </p:sp>
      <p:sp>
        <p:nvSpPr>
          <p:cNvPr id="83" name="Text 13"/>
          <p:cNvSpPr txBox="1"/>
          <p:nvPr/>
        </p:nvSpPr>
        <p:spPr>
          <a:xfrm>
            <a:off x="868678" y="5336716"/>
            <a:ext cx="4389123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8893A3"/>
                </a:solidFill>
              </a:defRPr>
            </a:lvl1pPr>
          </a:lstStyle>
          <a:p>
            <a:pPr/>
            <a:r>
              <a:t>Keď sú naplnené → vnútorná motivácia. Keď chýbajú → pokles aj pri dobrom plate.</a:t>
            </a:r>
          </a:p>
        </p:txBody>
      </p:sp>
      <p:sp>
        <p:nvSpPr>
          <p:cNvPr id="84" name="Shape 14"/>
          <p:cNvSpPr/>
          <p:nvPr/>
        </p:nvSpPr>
        <p:spPr>
          <a:xfrm>
            <a:off x="5852159" y="1691638"/>
            <a:ext cx="5760721" cy="4206244"/>
          </a:xfrm>
          <a:prstGeom prst="roundRect">
            <a:avLst>
              <a:gd name="adj" fmla="val 1739"/>
            </a:avLst>
          </a:prstGeom>
          <a:solidFill>
            <a:srgbClr val="EEF2F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" name="Text 16"/>
          <p:cNvSpPr txBox="1"/>
          <p:nvPr/>
        </p:nvSpPr>
        <p:spPr>
          <a:xfrm>
            <a:off x="7315200" y="1998008"/>
            <a:ext cx="19202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pc="100" sz="1000">
                <a:solidFill>
                  <a:srgbClr val="B85042"/>
                </a:solidFill>
              </a:defRPr>
            </a:lvl1pPr>
          </a:lstStyle>
          <a:p>
            <a:pPr/>
            <a:r>
              <a:t>PRÁCA</a:t>
            </a:r>
          </a:p>
        </p:txBody>
      </p:sp>
      <p:sp>
        <p:nvSpPr>
          <p:cNvPr id="86" name="Text 17"/>
          <p:cNvSpPr txBox="1"/>
          <p:nvPr/>
        </p:nvSpPr>
        <p:spPr>
          <a:xfrm>
            <a:off x="9326880" y="1998008"/>
            <a:ext cx="21031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pc="100" sz="1000">
                <a:solidFill>
                  <a:srgbClr val="0E7C7B"/>
                </a:solidFill>
              </a:defRPr>
            </a:lvl1pPr>
          </a:lstStyle>
          <a:p>
            <a:pPr/>
            <a:r>
              <a:t>CTF</a:t>
            </a:r>
          </a:p>
        </p:txBody>
      </p:sp>
      <p:sp>
        <p:nvSpPr>
          <p:cNvPr id="87" name="Text 18"/>
          <p:cNvSpPr txBox="1"/>
          <p:nvPr/>
        </p:nvSpPr>
        <p:spPr>
          <a:xfrm>
            <a:off x="5989320" y="2458649"/>
            <a:ext cx="12344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B2330"/>
                </a:solidFill>
              </a:defRPr>
            </a:lvl1pPr>
          </a:lstStyle>
          <a:p>
            <a:pPr/>
            <a:r>
              <a:t>Autonómia</a:t>
            </a:r>
          </a:p>
        </p:txBody>
      </p:sp>
      <p:sp>
        <p:nvSpPr>
          <p:cNvPr id="88" name="Text 19"/>
          <p:cNvSpPr txBox="1"/>
          <p:nvPr/>
        </p:nvSpPr>
        <p:spPr>
          <a:xfrm>
            <a:off x="7315200" y="2474897"/>
            <a:ext cx="192024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5B6779"/>
                </a:solidFill>
              </a:defRPr>
            </a:lvl1pPr>
          </a:lstStyle>
          <a:p>
            <a:pPr/>
            <a:r>
              <a:t>Tikety, SLA, cudzie priority</a:t>
            </a:r>
          </a:p>
        </p:txBody>
      </p:sp>
      <p:sp>
        <p:nvSpPr>
          <p:cNvPr id="89" name="Text 20"/>
          <p:cNvSpPr txBox="1"/>
          <p:nvPr/>
        </p:nvSpPr>
        <p:spPr>
          <a:xfrm>
            <a:off x="9326880" y="2474897"/>
            <a:ext cx="210312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1B2330"/>
                </a:solidFill>
              </a:defRPr>
            </a:lvl1pPr>
          </a:lstStyle>
          <a:p>
            <a:pPr/>
            <a:r>
              <a:t>Vyberám výzvu, tempo, nástroje</a:t>
            </a:r>
          </a:p>
        </p:txBody>
      </p:sp>
      <p:sp>
        <p:nvSpPr>
          <p:cNvPr id="90" name="Shape 21"/>
          <p:cNvSpPr/>
          <p:nvPr/>
        </p:nvSpPr>
        <p:spPr>
          <a:xfrm>
            <a:off x="5989318" y="2743200"/>
            <a:ext cx="5394963" cy="0"/>
          </a:xfrm>
          <a:prstGeom prst="line">
            <a:avLst/>
          </a:prstGeom>
          <a:ln w="6350">
            <a:solidFill>
              <a:srgbClr val="D7DE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Text 22"/>
          <p:cNvSpPr txBox="1"/>
          <p:nvPr/>
        </p:nvSpPr>
        <p:spPr>
          <a:xfrm>
            <a:off x="5989320" y="3464490"/>
            <a:ext cx="12344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B2330"/>
                </a:solidFill>
              </a:defRPr>
            </a:lvl1pPr>
          </a:lstStyle>
          <a:p>
            <a:pPr/>
            <a:r>
              <a:t>Kompetencia</a:t>
            </a:r>
          </a:p>
        </p:txBody>
      </p:sp>
      <p:sp>
        <p:nvSpPr>
          <p:cNvPr id="92" name="Text 23"/>
          <p:cNvSpPr txBox="1"/>
          <p:nvPr/>
        </p:nvSpPr>
        <p:spPr>
          <a:xfrm>
            <a:off x="7315200" y="3480737"/>
            <a:ext cx="19202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5B6779"/>
                </a:solidFill>
              </a:defRPr>
            </a:lvl1pPr>
          </a:lstStyle>
          <a:p>
            <a:pPr/>
            <a:r>
              <a:t>Pomalá, politická, často chýba</a:t>
            </a:r>
          </a:p>
        </p:txBody>
      </p:sp>
      <p:sp>
        <p:nvSpPr>
          <p:cNvPr id="93" name="Text 24"/>
          <p:cNvSpPr txBox="1"/>
          <p:nvPr/>
        </p:nvSpPr>
        <p:spPr>
          <a:xfrm>
            <a:off x="9326880" y="3480737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1B2330"/>
                </a:solidFill>
              </a:defRPr>
            </a:lvl1pPr>
          </a:lstStyle>
          <a:p>
            <a:pPr/>
            <a:r>
              <a:t>Flag / žiadny flag — hneď, jasne</a:t>
            </a:r>
          </a:p>
        </p:txBody>
      </p:sp>
      <p:sp>
        <p:nvSpPr>
          <p:cNvPr id="94" name="Shape 25"/>
          <p:cNvSpPr/>
          <p:nvPr/>
        </p:nvSpPr>
        <p:spPr>
          <a:xfrm>
            <a:off x="5989318" y="3749040"/>
            <a:ext cx="5394963" cy="2"/>
          </a:xfrm>
          <a:prstGeom prst="line">
            <a:avLst/>
          </a:prstGeom>
          <a:ln w="6350">
            <a:solidFill>
              <a:srgbClr val="D7DE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" name="Text 26"/>
          <p:cNvSpPr txBox="1"/>
          <p:nvPr/>
        </p:nvSpPr>
        <p:spPr>
          <a:xfrm>
            <a:off x="5989320" y="4470331"/>
            <a:ext cx="12344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B2330"/>
                </a:solidFill>
              </a:defRPr>
            </a:lvl1pPr>
          </a:lstStyle>
          <a:p>
            <a:pPr/>
            <a:r>
              <a:t>Vzťahovosť</a:t>
            </a:r>
          </a:p>
        </p:txBody>
      </p:sp>
      <p:sp>
        <p:nvSpPr>
          <p:cNvPr id="96" name="Text 27"/>
          <p:cNvSpPr txBox="1"/>
          <p:nvPr/>
        </p:nvSpPr>
        <p:spPr>
          <a:xfrm>
            <a:off x="7315200" y="4486578"/>
            <a:ext cx="19202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5B6779"/>
                </a:solidFill>
              </a:defRPr>
            </a:lvl1pPr>
          </a:lstStyle>
          <a:p>
            <a:pPr/>
            <a:r>
              <a:t>Náhodný tím, formálne väzby</a:t>
            </a:r>
          </a:p>
        </p:txBody>
      </p:sp>
      <p:sp>
        <p:nvSpPr>
          <p:cNvPr id="97" name="Text 28"/>
          <p:cNvSpPr txBox="1"/>
          <p:nvPr/>
        </p:nvSpPr>
        <p:spPr>
          <a:xfrm>
            <a:off x="9326880" y="448657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1B2330"/>
                </a:solidFill>
              </a:defRPr>
            </a:lvl1pPr>
          </a:lstStyle>
          <a:p>
            <a:pPr/>
            <a:r>
              <a:t>Tím e0_, komunita, spoločný cieľ</a:t>
            </a:r>
          </a:p>
        </p:txBody>
      </p:sp>
      <p:sp>
        <p:nvSpPr>
          <p:cNvPr id="98" name="Shape 29"/>
          <p:cNvSpPr/>
          <p:nvPr/>
        </p:nvSpPr>
        <p:spPr>
          <a:xfrm>
            <a:off x="5989318" y="4754879"/>
            <a:ext cx="5394963" cy="2"/>
          </a:xfrm>
          <a:prstGeom prst="line">
            <a:avLst/>
          </a:prstGeom>
          <a:ln w="6350">
            <a:solidFill>
              <a:srgbClr val="D7DE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" name="Text 30"/>
          <p:cNvSpPr txBox="1"/>
          <p:nvPr/>
        </p:nvSpPr>
        <p:spPr>
          <a:xfrm>
            <a:off x="548638" y="6162347"/>
            <a:ext cx="1106424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1B2A4A"/>
                </a:solidFill>
              </a:defRPr>
            </a:lvl1pPr>
          </a:lstStyle>
          <a:p>
            <a:pPr/>
            <a:r>
              <a:t>Práca platí (extrinsic). CTF sa stalo identitou — vlastná značka, writeupy, tím. To je internalizácia.</a:t>
            </a:r>
          </a:p>
        </p:txBody>
      </p:sp>
      <p:sp>
        <p:nvSpPr>
          <p:cNvPr id="100" name="Text 31"/>
          <p:cNvSpPr txBox="1"/>
          <p:nvPr/>
        </p:nvSpPr>
        <p:spPr>
          <a:xfrm>
            <a:off x="11521440" y="651514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AEB8C4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1" name="Text 32"/>
          <p:cNvSpPr txBox="1"/>
          <p:nvPr/>
        </p:nvSpPr>
        <p:spPr>
          <a:xfrm>
            <a:off x="548640" y="652018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AA5B1"/>
                </a:solidFill>
              </a:defRPr>
            </a:lvl1pPr>
          </a:lstStyle>
          <a:p>
            <a:pPr/>
            <a:r>
              <a:t>CyberGame očami hrača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 txBox="1"/>
          <p:nvPr/>
        </p:nvSpPr>
        <p:spPr>
          <a:xfrm>
            <a:off x="548640" y="515926"/>
            <a:ext cx="10058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C99A3C"/>
                </a:solidFill>
              </a:defRPr>
            </a:lvl1pPr>
          </a:lstStyle>
          <a:p>
            <a:pPr/>
            <a:r>
              <a:t>OSOBNÁ VÝPOVEĎ · 7:00 — 9:30</a:t>
            </a:r>
          </a:p>
        </p:txBody>
      </p:sp>
      <p:sp>
        <p:nvSpPr>
          <p:cNvPr id="106" name="Text 1"/>
          <p:cNvSpPr txBox="1"/>
          <p:nvPr/>
        </p:nvSpPr>
        <p:spPr>
          <a:xfrm>
            <a:off x="548640" y="845819"/>
            <a:ext cx="100584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Štyri fázy každého hrača</a:t>
            </a:r>
          </a:p>
        </p:txBody>
      </p:sp>
      <p:sp>
        <p:nvSpPr>
          <p:cNvPr id="107" name="Shape 2"/>
          <p:cNvSpPr/>
          <p:nvPr/>
        </p:nvSpPr>
        <p:spPr>
          <a:xfrm>
            <a:off x="502919" y="1600200"/>
            <a:ext cx="2743201" cy="4434841"/>
          </a:xfrm>
          <a:prstGeom prst="roundRect">
            <a:avLst>
              <a:gd name="adj" fmla="val 2667"/>
            </a:avLst>
          </a:prstGeom>
          <a:solidFill>
            <a:srgbClr val="1A2F5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" name="Text 3"/>
          <p:cNvSpPr txBox="1"/>
          <p:nvPr/>
        </p:nvSpPr>
        <p:spPr>
          <a:xfrm>
            <a:off x="685800" y="1824989"/>
            <a:ext cx="237744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09" name="Text 4"/>
          <p:cNvSpPr txBox="1"/>
          <p:nvPr/>
        </p:nvSpPr>
        <p:spPr>
          <a:xfrm>
            <a:off x="685800" y="2499798"/>
            <a:ext cx="237744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Čo ma dostalo dnu</a:t>
            </a:r>
          </a:p>
        </p:txBody>
      </p:sp>
      <p:sp>
        <p:nvSpPr>
          <p:cNvPr id="110" name="Shape 5"/>
          <p:cNvSpPr/>
          <p:nvPr/>
        </p:nvSpPr>
        <p:spPr>
          <a:xfrm>
            <a:off x="685798" y="2926078"/>
            <a:ext cx="2194564" cy="2"/>
          </a:xfrm>
          <a:prstGeom prst="line">
            <a:avLst/>
          </a:prstGeom>
          <a:ln w="12700">
            <a:solidFill>
              <a:srgbClr val="0E7C7B">
                <a:alpha val="400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" name="Text 6"/>
          <p:cNvSpPr txBox="1"/>
          <p:nvPr/>
        </p:nvSpPr>
        <p:spPr>
          <a:xfrm>
            <a:off x="685800" y="3908628"/>
            <a:ext cx="2377440" cy="869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AEB8C4"/>
                </a:solidFill>
              </a:defRPr>
            </a:lvl1pPr>
          </a:lstStyle>
          <a:p>
            <a:pPr/>
            <a:r>
              <a:t>Prvá výzva, ktorá sa vyrieši. Ten pocit. Okamžitá spätná väzba — flag alebo nič. Bez hodnotenia, bez učiteľa, bez čakania.</a:t>
            </a:r>
          </a:p>
        </p:txBody>
      </p:sp>
      <p:sp>
        <p:nvSpPr>
          <p:cNvPr id="112" name="Shape 7"/>
          <p:cNvSpPr/>
          <p:nvPr/>
        </p:nvSpPr>
        <p:spPr>
          <a:xfrm>
            <a:off x="3383279" y="1600200"/>
            <a:ext cx="2743202" cy="4434841"/>
          </a:xfrm>
          <a:prstGeom prst="roundRect">
            <a:avLst>
              <a:gd name="adj" fmla="val 2667"/>
            </a:avLst>
          </a:prstGeom>
          <a:solidFill>
            <a:srgbClr val="1A2F5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" name="Text 8"/>
          <p:cNvSpPr txBox="1"/>
          <p:nvPr/>
        </p:nvSpPr>
        <p:spPr>
          <a:xfrm>
            <a:off x="3566159" y="1824989"/>
            <a:ext cx="23774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4" name="Text 9"/>
          <p:cNvSpPr txBox="1"/>
          <p:nvPr/>
        </p:nvSpPr>
        <p:spPr>
          <a:xfrm>
            <a:off x="3566159" y="2499798"/>
            <a:ext cx="23774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Čo ma držalo</a:t>
            </a:r>
          </a:p>
        </p:txBody>
      </p:sp>
      <p:sp>
        <p:nvSpPr>
          <p:cNvPr id="115" name="Shape 10"/>
          <p:cNvSpPr/>
          <p:nvPr/>
        </p:nvSpPr>
        <p:spPr>
          <a:xfrm>
            <a:off x="3566159" y="2926078"/>
            <a:ext cx="2194562" cy="2"/>
          </a:xfrm>
          <a:prstGeom prst="line">
            <a:avLst/>
          </a:prstGeom>
          <a:ln w="12700">
            <a:solidFill>
              <a:srgbClr val="0E7C7B">
                <a:alpha val="400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" name="Text 11"/>
          <p:cNvSpPr txBox="1"/>
          <p:nvPr/>
        </p:nvSpPr>
        <p:spPr>
          <a:xfrm>
            <a:off x="3566159" y="3908628"/>
            <a:ext cx="2377442" cy="869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AEB8C4"/>
                </a:solidFill>
              </a:defRPr>
            </a:lvl1pPr>
          </a:lstStyle>
          <a:p>
            <a:pPr/>
            <a:r>
              <a:t>Komunita, tím, stupňovanie obtiažnosti. Každé CTF má svoju obtiažnostnú krivku — vždy je niečo na tvojej úrovni a niečo ťa ťahá vyššie.</a:t>
            </a:r>
          </a:p>
        </p:txBody>
      </p:sp>
      <p:sp>
        <p:nvSpPr>
          <p:cNvPr id="117" name="Shape 12"/>
          <p:cNvSpPr/>
          <p:nvPr/>
        </p:nvSpPr>
        <p:spPr>
          <a:xfrm>
            <a:off x="6263640" y="1600200"/>
            <a:ext cx="2743202" cy="4434841"/>
          </a:xfrm>
          <a:prstGeom prst="roundRect">
            <a:avLst>
              <a:gd name="adj" fmla="val 2667"/>
            </a:avLst>
          </a:prstGeom>
          <a:solidFill>
            <a:srgbClr val="1A2F5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" name="Text 13"/>
          <p:cNvSpPr txBox="1"/>
          <p:nvPr/>
        </p:nvSpPr>
        <p:spPr>
          <a:xfrm>
            <a:off x="6446520" y="1824989"/>
            <a:ext cx="23774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C99A3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19" name="Text 14"/>
          <p:cNvSpPr txBox="1"/>
          <p:nvPr/>
        </p:nvSpPr>
        <p:spPr>
          <a:xfrm>
            <a:off x="6446520" y="2499798"/>
            <a:ext cx="23774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Kde som narazil na strop</a:t>
            </a:r>
          </a:p>
        </p:txBody>
      </p:sp>
      <p:sp>
        <p:nvSpPr>
          <p:cNvPr id="120" name="Shape 15"/>
          <p:cNvSpPr/>
          <p:nvPr/>
        </p:nvSpPr>
        <p:spPr>
          <a:xfrm>
            <a:off x="6446520" y="2926078"/>
            <a:ext cx="2194562" cy="2"/>
          </a:xfrm>
          <a:prstGeom prst="line">
            <a:avLst/>
          </a:prstGeom>
          <a:ln w="12700">
            <a:solidFill>
              <a:srgbClr val="C99A3C">
                <a:alpha val="400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" name="Text 16"/>
          <p:cNvSpPr txBox="1"/>
          <p:nvPr/>
        </p:nvSpPr>
        <p:spPr>
          <a:xfrm>
            <a:off x="6446520" y="3908628"/>
            <a:ext cx="2377442" cy="869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AEB8C4"/>
                </a:solidFill>
              </a:defRPr>
            </a:lvl1pPr>
          </a:lstStyle>
          <a:p>
            <a:pPr/>
            <a:r>
              <a:t>Kategórie, ktoré som nikdy nepotreboval v práci. Binary exploitation. Reverse engineering. CTF ti neumožní skryť sa za špecializáciu.</a:t>
            </a:r>
          </a:p>
        </p:txBody>
      </p:sp>
      <p:sp>
        <p:nvSpPr>
          <p:cNvPr id="122" name="Shape 17"/>
          <p:cNvSpPr/>
          <p:nvPr/>
        </p:nvSpPr>
        <p:spPr>
          <a:xfrm>
            <a:off x="9144000" y="1600200"/>
            <a:ext cx="2743200" cy="4434841"/>
          </a:xfrm>
          <a:prstGeom prst="roundRect">
            <a:avLst>
              <a:gd name="adj" fmla="val 2667"/>
            </a:avLst>
          </a:prstGeom>
          <a:solidFill>
            <a:srgbClr val="1A2F5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" name="Text 18"/>
          <p:cNvSpPr txBox="1"/>
          <p:nvPr/>
        </p:nvSpPr>
        <p:spPr>
          <a:xfrm>
            <a:off x="9326880" y="1824989"/>
            <a:ext cx="23774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4" name="Text 19"/>
          <p:cNvSpPr txBox="1"/>
          <p:nvPr/>
        </p:nvSpPr>
        <p:spPr>
          <a:xfrm>
            <a:off x="9326880" y="2385691"/>
            <a:ext cx="2377442" cy="394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Čo som objavil v záverečných kolách</a:t>
            </a:r>
          </a:p>
        </p:txBody>
      </p:sp>
      <p:sp>
        <p:nvSpPr>
          <p:cNvPr id="125" name="Shape 20"/>
          <p:cNvSpPr/>
          <p:nvPr/>
        </p:nvSpPr>
        <p:spPr>
          <a:xfrm>
            <a:off x="9326880" y="2926078"/>
            <a:ext cx="2194562" cy="2"/>
          </a:xfrm>
          <a:prstGeom prst="line">
            <a:avLst/>
          </a:prstGeom>
          <a:ln w="12700">
            <a:solidFill>
              <a:srgbClr val="0E7C7B">
                <a:alpha val="400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" name="Text 21"/>
          <p:cNvSpPr txBox="1"/>
          <p:nvPr/>
        </p:nvSpPr>
        <p:spPr>
          <a:xfrm>
            <a:off x="9326880" y="3789848"/>
            <a:ext cx="2377442" cy="1107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AEB8C4"/>
                </a:solidFill>
              </a:defRPr>
            </a:lvl1pPr>
          </a:lstStyle>
          <a:p>
            <a:pPr/>
            <a:r>
              <a:t>Problémy, ktoré nemajú návod. Nie google, nie ChatGPT — čisté uvažovanie pod časovým tlakom. To je zručnosť, ktorá sa nedá naučiť z knižky.</a:t>
            </a:r>
          </a:p>
        </p:txBody>
      </p:sp>
      <p:sp>
        <p:nvSpPr>
          <p:cNvPr id="127" name="Text 22"/>
          <p:cNvSpPr txBox="1"/>
          <p:nvPr/>
        </p:nvSpPr>
        <p:spPr>
          <a:xfrm>
            <a:off x="11521440" y="651514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779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8" name="Text 23"/>
          <p:cNvSpPr txBox="1"/>
          <p:nvPr/>
        </p:nvSpPr>
        <p:spPr>
          <a:xfrm>
            <a:off x="548640" y="652018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3A3"/>
                </a:solidFill>
              </a:defRPr>
            </a:lvl1pPr>
          </a:lstStyle>
          <a:p>
            <a:pPr/>
            <a:r>
              <a:t>CyberGame očami hrača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 txBox="1"/>
          <p:nvPr/>
        </p:nvSpPr>
        <p:spPr>
          <a:xfrm>
            <a:off x="548640" y="515926"/>
            <a:ext cx="10058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7B"/>
                </a:solidFill>
              </a:defRPr>
            </a:lvl1pPr>
          </a:lstStyle>
          <a:p>
            <a:pPr/>
            <a:r>
              <a:t>GENERATÍVNA AI · NOVÁ PREMENNÁ V SÚŤAŽI</a:t>
            </a:r>
          </a:p>
        </p:txBody>
      </p:sp>
      <p:sp>
        <p:nvSpPr>
          <p:cNvPr id="133" name="Text 1"/>
          <p:cNvSpPr txBox="1"/>
          <p:nvPr/>
        </p:nvSpPr>
        <p:spPr>
          <a:xfrm>
            <a:off x="548640" y="845057"/>
            <a:ext cx="10515601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2900">
                <a:solidFill>
                  <a:srgbClr val="1B233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AI nemáme v CTF zakázané.</a:t>
            </a:r>
          </a:p>
          <a:p>
            <a:pPr>
              <a:lnSpc>
                <a:spcPct val="110000"/>
              </a:lnSpc>
              <a:defRPr sz="2900">
                <a:solidFill>
                  <a:srgbClr val="1B233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A to mení všetko.</a:t>
            </a:r>
          </a:p>
        </p:txBody>
      </p:sp>
      <p:sp>
        <p:nvSpPr>
          <p:cNvPr id="134" name="Shape 2"/>
          <p:cNvSpPr/>
          <p:nvPr/>
        </p:nvSpPr>
        <p:spPr>
          <a:xfrm>
            <a:off x="502919" y="2011678"/>
            <a:ext cx="3611882" cy="4069083"/>
          </a:xfrm>
          <a:prstGeom prst="roundRect">
            <a:avLst>
              <a:gd name="adj" fmla="val 2025"/>
            </a:avLst>
          </a:prstGeom>
          <a:solidFill>
            <a:srgbClr val="EEF2F7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000000">
                <a:alpha val="7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3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7240" y="2194560"/>
            <a:ext cx="411481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ext 3"/>
          <p:cNvSpPr txBox="1"/>
          <p:nvPr/>
        </p:nvSpPr>
        <p:spPr>
          <a:xfrm>
            <a:off x="1325880" y="2291588"/>
            <a:ext cx="260604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Hráč</a:t>
            </a:r>
          </a:p>
        </p:txBody>
      </p:sp>
      <p:sp>
        <p:nvSpPr>
          <p:cNvPr id="137" name="Shape 4"/>
          <p:cNvSpPr/>
          <p:nvPr/>
        </p:nvSpPr>
        <p:spPr>
          <a:xfrm>
            <a:off x="777240" y="2880360"/>
            <a:ext cx="91443" cy="91443"/>
          </a:xfrm>
          <a:prstGeom prst="ellipse">
            <a:avLst/>
          </a:prstGeom>
          <a:solidFill>
            <a:srgbClr val="0E7C7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" name="Text 5"/>
          <p:cNvSpPr txBox="1"/>
          <p:nvPr/>
        </p:nvSpPr>
        <p:spPr>
          <a:xfrm>
            <a:off x="1005838" y="2896730"/>
            <a:ext cx="2926084" cy="37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AI je nástroj, nie podvod — ale iba ak vieš, čo robí</a:t>
            </a:r>
          </a:p>
        </p:txBody>
      </p:sp>
      <p:sp>
        <p:nvSpPr>
          <p:cNvPr id="139" name="Shape 6"/>
          <p:cNvSpPr/>
          <p:nvPr/>
        </p:nvSpPr>
        <p:spPr>
          <a:xfrm>
            <a:off x="777240" y="3630167"/>
            <a:ext cx="91443" cy="91443"/>
          </a:xfrm>
          <a:prstGeom prst="ellipse">
            <a:avLst/>
          </a:prstGeom>
          <a:solidFill>
            <a:srgbClr val="0E7C7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" name="Text 7"/>
          <p:cNvSpPr txBox="1"/>
          <p:nvPr/>
        </p:nvSpPr>
        <p:spPr>
          <a:xfrm>
            <a:off x="1005838" y="3757474"/>
            <a:ext cx="292608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ChatGPT ti dá šablónu, nie pochopenie</a:t>
            </a:r>
          </a:p>
        </p:txBody>
      </p:sp>
      <p:sp>
        <p:nvSpPr>
          <p:cNvPr id="141" name="Shape 8"/>
          <p:cNvSpPr/>
          <p:nvPr/>
        </p:nvSpPr>
        <p:spPr>
          <a:xfrm>
            <a:off x="777240" y="4379976"/>
            <a:ext cx="91443" cy="91443"/>
          </a:xfrm>
          <a:prstGeom prst="ellipse">
            <a:avLst/>
          </a:prstGeom>
          <a:solidFill>
            <a:srgbClr val="0E7C7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" name="Text 9"/>
          <p:cNvSpPr txBox="1"/>
          <p:nvPr/>
        </p:nvSpPr>
        <p:spPr>
          <a:xfrm>
            <a:off x="1005838" y="4396345"/>
            <a:ext cx="2926084" cy="37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Záverečné kolá: AI nepomôže, keď nevieš základy</a:t>
            </a:r>
          </a:p>
        </p:txBody>
      </p:sp>
      <p:sp>
        <p:nvSpPr>
          <p:cNvPr id="143" name="Shape 10"/>
          <p:cNvSpPr/>
          <p:nvPr/>
        </p:nvSpPr>
        <p:spPr>
          <a:xfrm>
            <a:off x="777240" y="5129784"/>
            <a:ext cx="91443" cy="91443"/>
          </a:xfrm>
          <a:prstGeom prst="ellipse">
            <a:avLst/>
          </a:prstGeom>
          <a:solidFill>
            <a:srgbClr val="0E7C7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" name="Text 11"/>
          <p:cNvSpPr txBox="1"/>
          <p:nvPr/>
        </p:nvSpPr>
        <p:spPr>
          <a:xfrm>
            <a:off x="1005838" y="5146154"/>
            <a:ext cx="2926084" cy="37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Nová meta-zručnosť: vedieť kedy AI použiť a kedy nie</a:t>
            </a:r>
          </a:p>
        </p:txBody>
      </p:sp>
      <p:sp>
        <p:nvSpPr>
          <p:cNvPr id="145" name="Shape 12"/>
          <p:cNvSpPr/>
          <p:nvPr/>
        </p:nvSpPr>
        <p:spPr>
          <a:xfrm>
            <a:off x="4279391" y="2011678"/>
            <a:ext cx="3611882" cy="4069083"/>
          </a:xfrm>
          <a:prstGeom prst="roundRect">
            <a:avLst>
              <a:gd name="adj" fmla="val 2025"/>
            </a:avLst>
          </a:prstGeom>
          <a:solidFill>
            <a:srgbClr val="EEF2F7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000000">
                <a:alpha val="7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4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53710" y="2194560"/>
            <a:ext cx="411482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Text 13"/>
          <p:cNvSpPr txBox="1"/>
          <p:nvPr/>
        </p:nvSpPr>
        <p:spPr>
          <a:xfrm>
            <a:off x="5102352" y="2291588"/>
            <a:ext cx="260604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C99A3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Tvorca výziev</a:t>
            </a:r>
          </a:p>
        </p:txBody>
      </p:sp>
      <p:sp>
        <p:nvSpPr>
          <p:cNvPr id="148" name="Shape 14"/>
          <p:cNvSpPr/>
          <p:nvPr/>
        </p:nvSpPr>
        <p:spPr>
          <a:xfrm>
            <a:off x="4553710" y="2880360"/>
            <a:ext cx="91443" cy="91443"/>
          </a:xfrm>
          <a:prstGeom prst="ellipse">
            <a:avLst/>
          </a:prstGeom>
          <a:solidFill>
            <a:srgbClr val="C99A3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" name="Text 15"/>
          <p:cNvSpPr txBox="1"/>
          <p:nvPr/>
        </p:nvSpPr>
        <p:spPr>
          <a:xfrm>
            <a:off x="4782310" y="2896730"/>
            <a:ext cx="2926083" cy="37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Výzvy, ktoré AI vie vyriešiť jednou otázkou, sú triviálne</a:t>
            </a:r>
          </a:p>
        </p:txBody>
      </p:sp>
      <p:sp>
        <p:nvSpPr>
          <p:cNvPr id="150" name="Shape 16"/>
          <p:cNvSpPr/>
          <p:nvPr/>
        </p:nvSpPr>
        <p:spPr>
          <a:xfrm>
            <a:off x="4553710" y="3630167"/>
            <a:ext cx="91443" cy="91443"/>
          </a:xfrm>
          <a:prstGeom prst="ellipse">
            <a:avLst/>
          </a:prstGeom>
          <a:solidFill>
            <a:srgbClr val="C99A3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" name="Text 17"/>
          <p:cNvSpPr txBox="1"/>
          <p:nvPr/>
        </p:nvSpPr>
        <p:spPr>
          <a:xfrm>
            <a:off x="4782310" y="3646539"/>
            <a:ext cx="2926083" cy="378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Nový design: viac krokov, kontextuálne, tvorivosť</a:t>
            </a:r>
          </a:p>
        </p:txBody>
      </p:sp>
      <p:sp>
        <p:nvSpPr>
          <p:cNvPr id="152" name="Shape 18"/>
          <p:cNvSpPr/>
          <p:nvPr/>
        </p:nvSpPr>
        <p:spPr>
          <a:xfrm>
            <a:off x="4553710" y="4379976"/>
            <a:ext cx="91443" cy="91443"/>
          </a:xfrm>
          <a:prstGeom prst="ellipse">
            <a:avLst/>
          </a:prstGeom>
          <a:solidFill>
            <a:srgbClr val="C99A3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" name="Text 19"/>
          <p:cNvSpPr txBox="1"/>
          <p:nvPr/>
        </p:nvSpPr>
        <p:spPr>
          <a:xfrm>
            <a:off x="4782310" y="4507283"/>
            <a:ext cx="292608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AI-rezistentné výzvy = vyššia kvalita aj bez AI</a:t>
            </a:r>
          </a:p>
        </p:txBody>
      </p:sp>
      <p:sp>
        <p:nvSpPr>
          <p:cNvPr id="154" name="Shape 20"/>
          <p:cNvSpPr/>
          <p:nvPr/>
        </p:nvSpPr>
        <p:spPr>
          <a:xfrm>
            <a:off x="4553710" y="5129784"/>
            <a:ext cx="91443" cy="91443"/>
          </a:xfrm>
          <a:prstGeom prst="ellipse">
            <a:avLst/>
          </a:prstGeom>
          <a:solidFill>
            <a:srgbClr val="C99A3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 21"/>
          <p:cNvSpPr txBox="1"/>
          <p:nvPr/>
        </p:nvSpPr>
        <p:spPr>
          <a:xfrm>
            <a:off x="4782310" y="5257091"/>
            <a:ext cx="292608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Sila CTF: skúša myslenie, nie zapamätanie</a:t>
            </a:r>
          </a:p>
        </p:txBody>
      </p:sp>
      <p:sp>
        <p:nvSpPr>
          <p:cNvPr id="156" name="Shape 22"/>
          <p:cNvSpPr/>
          <p:nvPr/>
        </p:nvSpPr>
        <p:spPr>
          <a:xfrm>
            <a:off x="8055864" y="2011678"/>
            <a:ext cx="3611882" cy="4069083"/>
          </a:xfrm>
          <a:prstGeom prst="roundRect">
            <a:avLst>
              <a:gd name="adj" fmla="val 2025"/>
            </a:avLst>
          </a:prstGeom>
          <a:solidFill>
            <a:srgbClr val="EEF2F7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000000">
                <a:alpha val="7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57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330183" y="2194560"/>
            <a:ext cx="411481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Text 23"/>
          <p:cNvSpPr txBox="1"/>
          <p:nvPr/>
        </p:nvSpPr>
        <p:spPr>
          <a:xfrm>
            <a:off x="8878823" y="2291588"/>
            <a:ext cx="260604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Učiteľ</a:t>
            </a:r>
          </a:p>
        </p:txBody>
      </p:sp>
      <p:sp>
        <p:nvSpPr>
          <p:cNvPr id="159" name="Shape 24"/>
          <p:cNvSpPr/>
          <p:nvPr/>
        </p:nvSpPr>
        <p:spPr>
          <a:xfrm>
            <a:off x="8330183" y="2880360"/>
            <a:ext cx="91443" cy="91443"/>
          </a:xfrm>
          <a:prstGeom prst="ellipse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" name="Text 25"/>
          <p:cNvSpPr txBox="1"/>
          <p:nvPr/>
        </p:nvSpPr>
        <p:spPr>
          <a:xfrm>
            <a:off x="8558782" y="2896730"/>
            <a:ext cx="2926083" cy="37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To isté platí pre triedu: AI znemožní povrchné úlohy</a:t>
            </a:r>
          </a:p>
        </p:txBody>
      </p:sp>
      <p:sp>
        <p:nvSpPr>
          <p:cNvPr id="161" name="Shape 26"/>
          <p:cNvSpPr/>
          <p:nvPr/>
        </p:nvSpPr>
        <p:spPr>
          <a:xfrm>
            <a:off x="8330183" y="3630167"/>
            <a:ext cx="91443" cy="91443"/>
          </a:xfrm>
          <a:prstGeom prst="ellipse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" name="Text 27"/>
          <p:cNvSpPr txBox="1"/>
          <p:nvPr/>
        </p:nvSpPr>
        <p:spPr>
          <a:xfrm>
            <a:off x="8558782" y="3757474"/>
            <a:ext cx="292608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Hlboké pochopenie &gt; zapamätanie faktov</a:t>
            </a:r>
          </a:p>
        </p:txBody>
      </p:sp>
      <p:sp>
        <p:nvSpPr>
          <p:cNvPr id="163" name="Shape 28"/>
          <p:cNvSpPr/>
          <p:nvPr/>
        </p:nvSpPr>
        <p:spPr>
          <a:xfrm>
            <a:off x="8330183" y="4379976"/>
            <a:ext cx="91443" cy="91443"/>
          </a:xfrm>
          <a:prstGeom prst="ellipse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4" name="Text 29"/>
          <p:cNvSpPr txBox="1"/>
          <p:nvPr/>
        </p:nvSpPr>
        <p:spPr>
          <a:xfrm>
            <a:off x="8558782" y="4396345"/>
            <a:ext cx="2926083" cy="37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CTF-štýl prírodzene vedie k AI-odolnému mysleniu</a:t>
            </a:r>
          </a:p>
        </p:txBody>
      </p:sp>
      <p:sp>
        <p:nvSpPr>
          <p:cNvPr id="165" name="Shape 30"/>
          <p:cNvSpPr/>
          <p:nvPr/>
        </p:nvSpPr>
        <p:spPr>
          <a:xfrm>
            <a:off x="8330183" y="5129784"/>
            <a:ext cx="91443" cy="91443"/>
          </a:xfrm>
          <a:prstGeom prst="ellipse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" name="Text 31"/>
          <p:cNvSpPr txBox="1"/>
          <p:nvPr/>
        </p:nvSpPr>
        <p:spPr>
          <a:xfrm>
            <a:off x="8558782" y="5257091"/>
            <a:ext cx="292608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B2330"/>
                </a:solidFill>
              </a:defRPr>
            </a:lvl1pPr>
          </a:lstStyle>
          <a:p>
            <a:pPr/>
            <a:r>
              <a:t>Toto je žiadaná zručnosť trhu práce 2026+</a:t>
            </a:r>
          </a:p>
        </p:txBody>
      </p:sp>
      <p:sp>
        <p:nvSpPr>
          <p:cNvPr id="167" name="Text 32"/>
          <p:cNvSpPr txBox="1"/>
          <p:nvPr/>
        </p:nvSpPr>
        <p:spPr>
          <a:xfrm>
            <a:off x="548638" y="6345227"/>
            <a:ext cx="1078992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0E7C7B"/>
                </a:solidFill>
              </a:defRPr>
            </a:lvl1pPr>
          </a:lstStyle>
          <a:p>
            <a:pPr/>
            <a:r>
              <a:t>AI nemení podstatu CTF — mení látku. Hlboké pochopenie zostáva rozhodujúce.</a:t>
            </a:r>
          </a:p>
        </p:txBody>
      </p:sp>
      <p:sp>
        <p:nvSpPr>
          <p:cNvPr id="168" name="Text 33"/>
          <p:cNvSpPr txBox="1"/>
          <p:nvPr/>
        </p:nvSpPr>
        <p:spPr>
          <a:xfrm>
            <a:off x="11521440" y="651514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AEB8C4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69" name="Text 34"/>
          <p:cNvSpPr txBox="1"/>
          <p:nvPr/>
        </p:nvSpPr>
        <p:spPr>
          <a:xfrm>
            <a:off x="548640" y="652018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AA5B1"/>
                </a:solidFill>
              </a:defRPr>
            </a:lvl1pPr>
          </a:lstStyle>
          <a:p>
            <a:pPr/>
            <a:r>
              <a:t>CyberGame očami hrača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 txBox="1"/>
          <p:nvPr/>
        </p:nvSpPr>
        <p:spPr>
          <a:xfrm>
            <a:off x="548640" y="515926"/>
            <a:ext cx="10058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7B"/>
                </a:solidFill>
              </a:defRPr>
            </a:lvl1pPr>
          </a:lstStyle>
          <a:p>
            <a:pPr/>
            <a:r>
              <a:t>PRE VAŠICH ŠTUDENTOV · 11:30 — 12:30</a:t>
            </a:r>
          </a:p>
        </p:txBody>
      </p:sp>
      <p:sp>
        <p:nvSpPr>
          <p:cNvPr id="174" name="Text 1"/>
          <p:cNvSpPr txBox="1"/>
          <p:nvPr/>
        </p:nvSpPr>
        <p:spPr>
          <a:xfrm>
            <a:off x="548640" y="866139"/>
            <a:ext cx="100584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Okno, ktoré sa zatvorí.</a:t>
            </a:r>
          </a:p>
        </p:txBody>
      </p:sp>
      <p:sp>
        <p:nvSpPr>
          <p:cNvPr id="175" name="Shape 2"/>
          <p:cNvSpPr/>
          <p:nvPr/>
        </p:nvSpPr>
        <p:spPr>
          <a:xfrm>
            <a:off x="868678" y="2423160"/>
            <a:ext cx="10332722" cy="2"/>
          </a:xfrm>
          <a:prstGeom prst="line">
            <a:avLst/>
          </a:prstGeom>
          <a:ln w="25400">
            <a:solidFill>
              <a:srgbClr val="37456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" name="Shape 3"/>
          <p:cNvSpPr/>
          <p:nvPr/>
        </p:nvSpPr>
        <p:spPr>
          <a:xfrm>
            <a:off x="1417319" y="2240278"/>
            <a:ext cx="365763" cy="365763"/>
          </a:xfrm>
          <a:prstGeom prst="ellipse">
            <a:avLst/>
          </a:prstGeom>
          <a:solidFill>
            <a:srgbClr val="0E7C7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Text 4"/>
          <p:cNvSpPr txBox="1"/>
          <p:nvPr/>
        </p:nvSpPr>
        <p:spPr>
          <a:xfrm>
            <a:off x="640079" y="2785679"/>
            <a:ext cx="21945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7C7B"/>
                </a:solidFill>
              </a:defRPr>
            </a:lvl1pPr>
          </a:lstStyle>
          <a:p>
            <a:pPr/>
            <a:r>
              <a:t>Študent</a:t>
            </a:r>
          </a:p>
        </p:txBody>
      </p:sp>
      <p:sp>
        <p:nvSpPr>
          <p:cNvPr id="178" name="Text 5"/>
          <p:cNvSpPr txBox="1"/>
          <p:nvPr/>
        </p:nvSpPr>
        <p:spPr>
          <a:xfrm>
            <a:off x="640079" y="3270460"/>
            <a:ext cx="2194562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20000"/>
              </a:lnSpc>
              <a:defRPr i="1" sz="1100">
                <a:solidFill>
                  <a:srgbClr val="8893A3"/>
                </a:solidFill>
              </a:defRPr>
            </a:pPr>
            <a:r>
              <a:t>Učí sa bez</a:t>
            </a:r>
          </a:p>
          <a:p>
            <a:pPr algn="ctr">
              <a:lnSpc>
                <a:spcPct val="120000"/>
              </a:lnSpc>
              <a:defRPr i="1" sz="1100">
                <a:solidFill>
                  <a:srgbClr val="8893A3"/>
                </a:solidFill>
              </a:defRPr>
            </a:pPr>
            <a:r>
              <a:t> potreby mzdy</a:t>
            </a:r>
          </a:p>
        </p:txBody>
      </p:sp>
      <p:sp>
        <p:nvSpPr>
          <p:cNvPr id="179" name="Shape 6"/>
          <p:cNvSpPr/>
          <p:nvPr/>
        </p:nvSpPr>
        <p:spPr>
          <a:xfrm>
            <a:off x="3977640" y="2240278"/>
            <a:ext cx="365763" cy="365763"/>
          </a:xfrm>
          <a:prstGeom prst="ellipse">
            <a:avLst/>
          </a:prstGeom>
          <a:solidFill>
            <a:srgbClr val="AEB8C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0" name="Text 7"/>
          <p:cNvSpPr txBox="1"/>
          <p:nvPr/>
        </p:nvSpPr>
        <p:spPr>
          <a:xfrm>
            <a:off x="3200399" y="2785679"/>
            <a:ext cx="219456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AEB8C4"/>
                </a:solidFill>
              </a:defRPr>
            </a:lvl1pPr>
          </a:lstStyle>
          <a:p>
            <a:pPr/>
            <a:r>
              <a:t>Junior</a:t>
            </a:r>
          </a:p>
        </p:txBody>
      </p:sp>
      <p:sp>
        <p:nvSpPr>
          <p:cNvPr id="181" name="Text 8"/>
          <p:cNvSpPr txBox="1"/>
          <p:nvPr/>
        </p:nvSpPr>
        <p:spPr>
          <a:xfrm>
            <a:off x="3200399" y="3270460"/>
            <a:ext cx="2194563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20000"/>
              </a:lnSpc>
              <a:defRPr i="1" sz="1100">
                <a:solidFill>
                  <a:srgbClr val="8893A3"/>
                </a:solidFill>
              </a:defRPr>
            </a:pPr>
            <a:r>
              <a:t>Prvá práca,</a:t>
            </a:r>
          </a:p>
          <a:p>
            <a:pPr algn="ctr">
              <a:lnSpc>
                <a:spcPct val="120000"/>
              </a:lnSpc>
              <a:defRPr i="1" sz="1100">
                <a:solidFill>
                  <a:srgbClr val="8893A3"/>
                </a:solidFill>
              </a:defRPr>
            </a:pPr>
            <a:r>
              <a:t>extrinsic vstupy</a:t>
            </a:r>
          </a:p>
        </p:txBody>
      </p:sp>
      <p:sp>
        <p:nvSpPr>
          <p:cNvPr id="182" name="Shape 9"/>
          <p:cNvSpPr/>
          <p:nvPr/>
        </p:nvSpPr>
        <p:spPr>
          <a:xfrm>
            <a:off x="6537959" y="2240278"/>
            <a:ext cx="365763" cy="365763"/>
          </a:xfrm>
          <a:prstGeom prst="ellipse">
            <a:avLst/>
          </a:prstGeom>
          <a:solidFill>
            <a:srgbClr val="5B677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" name="Text 10"/>
          <p:cNvSpPr txBox="1"/>
          <p:nvPr/>
        </p:nvSpPr>
        <p:spPr>
          <a:xfrm>
            <a:off x="5760720" y="2785679"/>
            <a:ext cx="21945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5B6779"/>
                </a:solidFill>
              </a:defRPr>
            </a:lvl1pPr>
          </a:lstStyle>
          <a:p>
            <a:pPr/>
            <a:r>
              <a:t>Mid</a:t>
            </a:r>
          </a:p>
        </p:txBody>
      </p:sp>
      <p:sp>
        <p:nvSpPr>
          <p:cNvPr id="184" name="Text 11"/>
          <p:cNvSpPr txBox="1"/>
          <p:nvPr/>
        </p:nvSpPr>
        <p:spPr>
          <a:xfrm>
            <a:off x="5760720" y="3270460"/>
            <a:ext cx="2194562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20000"/>
              </a:lnSpc>
              <a:defRPr i="1" sz="1100">
                <a:solidFill>
                  <a:srgbClr val="8893A3"/>
                </a:solidFill>
              </a:defRPr>
            </a:pPr>
            <a:r>
              <a:t>Každá zručnosť</a:t>
            </a:r>
          </a:p>
          <a:p>
            <a:pPr algn="ctr">
              <a:lnSpc>
                <a:spcPct val="120000"/>
              </a:lnSpc>
              <a:defRPr i="1" sz="1100">
                <a:solidFill>
                  <a:srgbClr val="8893A3"/>
                </a:solidFill>
              </a:defRPr>
            </a:pPr>
            <a:r>
              <a:t>musí mať odôvodnenie.</a:t>
            </a:r>
          </a:p>
        </p:txBody>
      </p:sp>
      <p:sp>
        <p:nvSpPr>
          <p:cNvPr id="185" name="Shape 12"/>
          <p:cNvSpPr/>
          <p:nvPr/>
        </p:nvSpPr>
        <p:spPr>
          <a:xfrm>
            <a:off x="9098280" y="2240278"/>
            <a:ext cx="365763" cy="365763"/>
          </a:xfrm>
          <a:prstGeom prst="ellipse">
            <a:avLst/>
          </a:prstGeom>
          <a:solidFill>
            <a:srgbClr val="37456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" name="Text 13"/>
          <p:cNvSpPr txBox="1"/>
          <p:nvPr/>
        </p:nvSpPr>
        <p:spPr>
          <a:xfrm>
            <a:off x="8321040" y="2785679"/>
            <a:ext cx="21945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37456A"/>
                </a:solidFill>
              </a:defRPr>
            </a:lvl1pPr>
          </a:lstStyle>
          <a:p>
            <a:pPr/>
            <a:r>
              <a:t>Senior</a:t>
            </a:r>
          </a:p>
        </p:txBody>
      </p:sp>
      <p:sp>
        <p:nvSpPr>
          <p:cNvPr id="187" name="Text 14"/>
          <p:cNvSpPr txBox="1"/>
          <p:nvPr/>
        </p:nvSpPr>
        <p:spPr>
          <a:xfrm>
            <a:off x="8321040" y="3270460"/>
            <a:ext cx="2194562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20000"/>
              </a:lnSpc>
              <a:defRPr i="1" sz="1100">
                <a:solidFill>
                  <a:srgbClr val="8893A3"/>
                </a:solidFill>
              </a:defRPr>
            </a:pPr>
            <a:r>
              <a:t>Intrinsic znova —</a:t>
            </a:r>
          </a:p>
          <a:p>
            <a:pPr algn="ctr">
              <a:lnSpc>
                <a:spcPct val="120000"/>
              </a:lnSpc>
              <a:defRPr i="1" sz="1100">
                <a:solidFill>
                  <a:srgbClr val="8893A3"/>
                </a:solidFill>
              </a:defRPr>
            </a:pPr>
            <a:r>
              <a:t>ale už filtrované</a:t>
            </a:r>
          </a:p>
        </p:txBody>
      </p:sp>
      <p:sp>
        <p:nvSpPr>
          <p:cNvPr id="188" name="Shape 15"/>
          <p:cNvSpPr/>
          <p:nvPr/>
        </p:nvSpPr>
        <p:spPr>
          <a:xfrm>
            <a:off x="548640" y="3931920"/>
            <a:ext cx="10698482" cy="2057402"/>
          </a:xfrm>
          <a:prstGeom prst="roundRect">
            <a:avLst>
              <a:gd name="adj" fmla="val 3556"/>
            </a:avLst>
          </a:prstGeom>
          <a:solidFill>
            <a:srgbClr val="1A2F5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" name="Text 16"/>
          <p:cNvSpPr txBox="1"/>
          <p:nvPr/>
        </p:nvSpPr>
        <p:spPr>
          <a:xfrm>
            <a:off x="822959" y="4255768"/>
            <a:ext cx="102412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Študenti sú jediná skupina ľudí, ktorá sa môže učiť bez toho, aby potrebovala mzdu ako motivátor.</a:t>
            </a:r>
          </a:p>
        </p:txBody>
      </p:sp>
      <p:sp>
        <p:nvSpPr>
          <p:cNvPr id="190" name="Text 17"/>
          <p:cNvSpPr txBox="1"/>
          <p:nvPr/>
        </p:nvSpPr>
        <p:spPr>
          <a:xfrm>
            <a:off x="822959" y="4797359"/>
            <a:ext cx="102412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AEB8C4"/>
                </a:solidFill>
              </a:defRPr>
            </a:lvl1pPr>
          </a:lstStyle>
          <a:p>
            <a:pPr/>
            <a:r>
              <a:t>Neskôr v živote to nejde — každá zručnosť musí byť odôvodnená kariérou, platom, využiteľnosťou.</a:t>
            </a:r>
          </a:p>
        </p:txBody>
      </p:sp>
      <p:sp>
        <p:nvSpPr>
          <p:cNvPr id="191" name="Text 18"/>
          <p:cNvSpPr txBox="1"/>
          <p:nvPr/>
        </p:nvSpPr>
        <p:spPr>
          <a:xfrm>
            <a:off x="822959" y="5280573"/>
            <a:ext cx="10241282" cy="411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i="1" sz="1300">
                <a:solidFill>
                  <a:srgbClr val="0E7C7B"/>
                </a:solidFill>
              </a:defRPr>
            </a:lvl1pPr>
          </a:lstStyle>
          <a:p>
            <a:pPr/>
            <a:r>
              <a:t>Toto okno je vzácne a krátke. CTF-štýl učenia ho využíva — nie preto, že je to zábavné, ale preto, že to buduje intrinsic motiváciu v čase, keď to ešte môže študenta “vystreliť do neba”.</a:t>
            </a:r>
          </a:p>
        </p:txBody>
      </p:sp>
      <p:sp>
        <p:nvSpPr>
          <p:cNvPr id="192" name="Text 19"/>
          <p:cNvSpPr txBox="1"/>
          <p:nvPr/>
        </p:nvSpPr>
        <p:spPr>
          <a:xfrm>
            <a:off x="11521440" y="651514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779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93" name="Text 20"/>
          <p:cNvSpPr txBox="1"/>
          <p:nvPr/>
        </p:nvSpPr>
        <p:spPr>
          <a:xfrm>
            <a:off x="548640" y="652018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3A3"/>
                </a:solidFill>
              </a:defRPr>
            </a:lvl1pPr>
          </a:lstStyle>
          <a:p>
            <a:pPr/>
            <a:r>
              <a:t>CyberGame očami hrača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 txBox="1"/>
          <p:nvPr/>
        </p:nvSpPr>
        <p:spPr>
          <a:xfrm>
            <a:off x="548640" y="515926"/>
            <a:ext cx="10058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7B"/>
                </a:solidFill>
              </a:defRPr>
            </a:lvl1pPr>
          </a:lstStyle>
          <a:p>
            <a:pPr/>
            <a:r>
              <a:t>PRE VAŠICH ŠTUDENTOV · 12:30 — 13:15</a:t>
            </a:r>
          </a:p>
        </p:txBody>
      </p:sp>
      <p:sp>
        <p:nvSpPr>
          <p:cNvPr id="198" name="Text 1"/>
          <p:cNvSpPr txBox="1"/>
          <p:nvPr/>
        </p:nvSpPr>
        <p:spPr>
          <a:xfrm>
            <a:off x="548640" y="868680"/>
            <a:ext cx="100584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100">
                <a:solidFill>
                  <a:srgbClr val="1B233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Najcennejšie veci nie sú v knihách.</a:t>
            </a:r>
          </a:p>
        </p:txBody>
      </p:sp>
      <p:sp>
        <p:nvSpPr>
          <p:cNvPr id="199" name="Shape 2"/>
          <p:cNvSpPr/>
          <p:nvPr/>
        </p:nvSpPr>
        <p:spPr>
          <a:xfrm>
            <a:off x="548640" y="1691638"/>
            <a:ext cx="5120641" cy="4297683"/>
          </a:xfrm>
          <a:prstGeom prst="roundRect">
            <a:avLst>
              <a:gd name="adj" fmla="val 1702"/>
            </a:avLst>
          </a:prstGeom>
          <a:solidFill>
            <a:srgbClr val="121E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" name="Text 3"/>
          <p:cNvSpPr txBox="1"/>
          <p:nvPr/>
        </p:nvSpPr>
        <p:spPr>
          <a:xfrm>
            <a:off x="822959" y="2736849"/>
            <a:ext cx="4572003" cy="1109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„V CTF zadanie nemá návod.</a:t>
            </a:r>
          </a:p>
          <a:p>
            <a:pPr>
              <a:lnSpc>
                <a:spcPct val="140000"/>
              </a:lnSpc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Nie google, nie ChatGPT.</a:t>
            </a:r>
          </a:p>
          <a:p>
            <a:pPr>
              <a:lnSpc>
                <a:spcPct val="140000"/>
              </a:lnSpc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Len ty a problém.“</a:t>
            </a:r>
          </a:p>
        </p:txBody>
      </p:sp>
      <p:sp>
        <p:nvSpPr>
          <p:cNvPr id="201" name="Text 4"/>
          <p:cNvSpPr txBox="1"/>
          <p:nvPr/>
        </p:nvSpPr>
        <p:spPr>
          <a:xfrm>
            <a:off x="822959" y="4694358"/>
            <a:ext cx="457200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i="1" sz="1300">
                <a:solidFill>
                  <a:srgbClr val="0E7C7B"/>
                </a:solidFill>
              </a:defRPr>
            </a:lvl1pPr>
          </a:lstStyle>
          <a:p>
            <a:pPr/>
            <a:r>
              <a:t>To je najbližšie k reálnym výzvam, ako sa v škole dá.</a:t>
            </a:r>
          </a:p>
        </p:txBody>
      </p:sp>
      <p:sp>
        <p:nvSpPr>
          <p:cNvPr id="202" name="Shape 5"/>
          <p:cNvSpPr/>
          <p:nvPr/>
        </p:nvSpPr>
        <p:spPr>
          <a:xfrm>
            <a:off x="5943600" y="1828800"/>
            <a:ext cx="5577841" cy="1234440"/>
          </a:xfrm>
          <a:prstGeom prst="roundRect">
            <a:avLst>
              <a:gd name="adj" fmla="val 5185"/>
            </a:avLst>
          </a:prstGeom>
          <a:solidFill>
            <a:srgbClr val="EEF2F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" name="Text 6"/>
          <p:cNvSpPr txBox="1"/>
          <p:nvPr/>
        </p:nvSpPr>
        <p:spPr>
          <a:xfrm>
            <a:off x="6217918" y="1999295"/>
            <a:ext cx="512064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B2A4A"/>
                </a:solidFill>
              </a:defRPr>
            </a:lvl1pPr>
          </a:lstStyle>
          <a:p>
            <a:pPr/>
            <a:r>
              <a:t>Vedomosti z praxe</a:t>
            </a:r>
          </a:p>
        </p:txBody>
      </p:sp>
      <p:sp>
        <p:nvSpPr>
          <p:cNvPr id="204" name="Text 7"/>
          <p:cNvSpPr txBox="1"/>
          <p:nvPr/>
        </p:nvSpPr>
        <p:spPr>
          <a:xfrm>
            <a:off x="6217918" y="2449324"/>
            <a:ext cx="5120643" cy="38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5B6779"/>
                </a:solidFill>
              </a:defRPr>
            </a:lvl1pPr>
          </a:lstStyle>
          <a:p>
            <a:pPr/>
            <a:r>
              <a:t>Najcennejšie zručnosti sú v hlavách ľudí, ktorí riešili problémy v ‘noci’, sami, bez návodu.</a:t>
            </a:r>
          </a:p>
        </p:txBody>
      </p:sp>
      <p:sp>
        <p:nvSpPr>
          <p:cNvPr id="205" name="Shape 8"/>
          <p:cNvSpPr/>
          <p:nvPr/>
        </p:nvSpPr>
        <p:spPr>
          <a:xfrm>
            <a:off x="5943600" y="3218688"/>
            <a:ext cx="5577841" cy="1234440"/>
          </a:xfrm>
          <a:prstGeom prst="roundRect">
            <a:avLst>
              <a:gd name="adj" fmla="val 5185"/>
            </a:avLst>
          </a:prstGeom>
          <a:solidFill>
            <a:srgbClr val="EEF2F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6" name="Text 9"/>
          <p:cNvSpPr txBox="1"/>
          <p:nvPr/>
        </p:nvSpPr>
        <p:spPr>
          <a:xfrm>
            <a:off x="6217918" y="3389183"/>
            <a:ext cx="512064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B2A4A"/>
                </a:solidFill>
              </a:defRPr>
            </a:lvl1pPr>
          </a:lstStyle>
          <a:p>
            <a:pPr/>
            <a:r>
              <a:t>‘Tacit’ knowledge</a:t>
            </a:r>
          </a:p>
        </p:txBody>
      </p:sp>
      <p:sp>
        <p:nvSpPr>
          <p:cNvPr id="207" name="Text 10"/>
          <p:cNvSpPr txBox="1"/>
          <p:nvPr/>
        </p:nvSpPr>
        <p:spPr>
          <a:xfrm>
            <a:off x="6217918" y="3954071"/>
            <a:ext cx="512064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5B6779"/>
                </a:solidFill>
              </a:defRPr>
            </a:lvl1pPr>
          </a:lstStyle>
          <a:p>
            <a:pPr/>
            <a:r>
              <a:t>Nedajú sa napísať do učebnice. Dá sa ich len zažiť — a CTF ich sprostredkuje.</a:t>
            </a:r>
          </a:p>
        </p:txBody>
      </p:sp>
      <p:sp>
        <p:nvSpPr>
          <p:cNvPr id="208" name="Shape 11"/>
          <p:cNvSpPr/>
          <p:nvPr/>
        </p:nvSpPr>
        <p:spPr>
          <a:xfrm>
            <a:off x="5943600" y="4608576"/>
            <a:ext cx="5577841" cy="1234442"/>
          </a:xfrm>
          <a:prstGeom prst="roundRect">
            <a:avLst>
              <a:gd name="adj" fmla="val 5185"/>
            </a:avLst>
          </a:prstGeom>
          <a:solidFill>
            <a:srgbClr val="EEF2F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" name="Text 12"/>
          <p:cNvSpPr txBox="1"/>
          <p:nvPr/>
        </p:nvSpPr>
        <p:spPr>
          <a:xfrm>
            <a:off x="6217918" y="4779071"/>
            <a:ext cx="512064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B2A4A"/>
                </a:solidFill>
              </a:defRPr>
            </a:lvl1pPr>
          </a:lstStyle>
          <a:p>
            <a:pPr/>
            <a:r>
              <a:t>Transfer do praxe</a:t>
            </a:r>
          </a:p>
        </p:txBody>
      </p:sp>
      <p:sp>
        <p:nvSpPr>
          <p:cNvPr id="210" name="Text 13"/>
          <p:cNvSpPr txBox="1"/>
          <p:nvPr/>
        </p:nvSpPr>
        <p:spPr>
          <a:xfrm>
            <a:off x="6217918" y="5229100"/>
            <a:ext cx="5120643" cy="386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5B6779"/>
                </a:solidFill>
              </a:defRPr>
            </a:lvl1pPr>
          </a:lstStyle>
          <a:p>
            <a:pPr/>
            <a:r>
              <a:t>CTF absolvent nie je len človek s vedomosťami. Je to človek, ktorý vie uvažovať pod tlakom bez inštrukcií.</a:t>
            </a:r>
          </a:p>
        </p:txBody>
      </p:sp>
      <p:sp>
        <p:nvSpPr>
          <p:cNvPr id="211" name="Text 14"/>
          <p:cNvSpPr txBox="1"/>
          <p:nvPr/>
        </p:nvSpPr>
        <p:spPr>
          <a:xfrm>
            <a:off x="11521440" y="651514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AEB8C4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12" name="Text 15"/>
          <p:cNvSpPr txBox="1"/>
          <p:nvPr/>
        </p:nvSpPr>
        <p:spPr>
          <a:xfrm>
            <a:off x="548640" y="652018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AA5B1"/>
                </a:solidFill>
              </a:defRPr>
            </a:lvl1pPr>
          </a:lstStyle>
          <a:p>
            <a:pPr/>
            <a:r>
              <a:t>CyberGame očami hrača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 txBox="1"/>
          <p:nvPr/>
        </p:nvSpPr>
        <p:spPr>
          <a:xfrm>
            <a:off x="548640" y="515926"/>
            <a:ext cx="10058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C99A3C"/>
                </a:solidFill>
              </a:defRPr>
            </a:lvl1pPr>
          </a:lstStyle>
          <a:p>
            <a:pPr/>
            <a:r>
              <a:t>PRE VAŠICH ŠTUDENTOV · 13:15 — 14:00</a:t>
            </a:r>
          </a:p>
        </p:txBody>
      </p:sp>
      <p:sp>
        <p:nvSpPr>
          <p:cNvPr id="217" name="Text 1"/>
          <p:cNvSpPr txBox="1"/>
          <p:nvPr/>
        </p:nvSpPr>
        <p:spPr>
          <a:xfrm>
            <a:off x="548640" y="862330"/>
            <a:ext cx="100584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Najlepší ľudia to nerobia pre peniaze.</a:t>
            </a:r>
          </a:p>
        </p:txBody>
      </p:sp>
      <p:sp>
        <p:nvSpPr>
          <p:cNvPr id="218" name="Text 2"/>
          <p:cNvSpPr txBox="1"/>
          <p:nvPr/>
        </p:nvSpPr>
        <p:spPr>
          <a:xfrm>
            <a:off x="548639" y="1849821"/>
            <a:ext cx="106984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500">
                <a:solidFill>
                  <a:srgbClr val="C7D0DE"/>
                </a:solidFill>
              </a:defRPr>
            </a:lvl1pPr>
          </a:lstStyle>
          <a:p>
            <a:pPr/>
            <a:r>
              <a:t>CTF komunita je plná ľudí, ktorí riešia problémy pre radosť, nie pre mzdu. To nie je výnimka — to je pravidlo v každom kreatívnom poli.</a:t>
            </a:r>
          </a:p>
        </p:txBody>
      </p:sp>
      <p:sp>
        <p:nvSpPr>
          <p:cNvPr id="219" name="Shape 3"/>
          <p:cNvSpPr/>
          <p:nvPr/>
        </p:nvSpPr>
        <p:spPr>
          <a:xfrm>
            <a:off x="502919" y="2514600"/>
            <a:ext cx="3611882" cy="3474721"/>
          </a:xfrm>
          <a:prstGeom prst="roundRect">
            <a:avLst>
              <a:gd name="adj" fmla="val 2105"/>
            </a:avLst>
          </a:prstGeom>
          <a:solidFill>
            <a:srgbClr val="1A2F5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20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7240" y="2697478"/>
            <a:ext cx="411481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 4"/>
          <p:cNvSpPr txBox="1"/>
          <p:nvPr/>
        </p:nvSpPr>
        <p:spPr>
          <a:xfrm>
            <a:off x="777240" y="3482778"/>
            <a:ext cx="306324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sz="1300">
                <a:solidFill>
                  <a:srgbClr val="0E7C7B"/>
                </a:solidFill>
              </a:defRPr>
            </a:lvl1pPr>
          </a:lstStyle>
          <a:p>
            <a:pPr/>
            <a:r>
              <a:t>Talent sa ukáže v bezpečnom prostredi</a:t>
            </a:r>
          </a:p>
        </p:txBody>
      </p:sp>
      <p:sp>
        <p:nvSpPr>
          <p:cNvPr id="222" name="Shape 5"/>
          <p:cNvSpPr/>
          <p:nvPr/>
        </p:nvSpPr>
        <p:spPr>
          <a:xfrm>
            <a:off x="777240" y="3977640"/>
            <a:ext cx="2971802" cy="2"/>
          </a:xfrm>
          <a:prstGeom prst="line">
            <a:avLst/>
          </a:prstGeom>
          <a:ln w="12700">
            <a:solidFill>
              <a:srgbClr val="0E7C7B">
                <a:alpha val="300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" name="Text 6"/>
          <p:cNvSpPr txBox="1"/>
          <p:nvPr/>
        </p:nvSpPr>
        <p:spPr>
          <a:xfrm>
            <a:off x="777240" y="4621767"/>
            <a:ext cx="3063240" cy="631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AEB8C4"/>
                </a:solidFill>
              </a:defRPr>
            </a:lvl1pPr>
          </a:lstStyle>
          <a:p>
            <a:pPr/>
            <a:r>
              <a:t>CTF dá priestor riešiť bez strachu zo zlého hodnotenia. Práve tu sa objavujú ľudia, ktorí by inak zostali bez povšimnutia.</a:t>
            </a:r>
          </a:p>
        </p:txBody>
      </p:sp>
      <p:sp>
        <p:nvSpPr>
          <p:cNvPr id="224" name="Shape 7"/>
          <p:cNvSpPr/>
          <p:nvPr/>
        </p:nvSpPr>
        <p:spPr>
          <a:xfrm>
            <a:off x="4279391" y="2514600"/>
            <a:ext cx="3611882" cy="3474721"/>
          </a:xfrm>
          <a:prstGeom prst="roundRect">
            <a:avLst>
              <a:gd name="adj" fmla="val 2105"/>
            </a:avLst>
          </a:prstGeom>
          <a:solidFill>
            <a:srgbClr val="1A2F5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25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53710" y="2697478"/>
            <a:ext cx="411482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ext 8"/>
          <p:cNvSpPr txBox="1"/>
          <p:nvPr/>
        </p:nvSpPr>
        <p:spPr>
          <a:xfrm>
            <a:off x="4553710" y="3482778"/>
            <a:ext cx="30632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sz="1300">
                <a:solidFill>
                  <a:srgbClr val="C99A3C"/>
                </a:solidFill>
              </a:defRPr>
            </a:lvl1pPr>
          </a:lstStyle>
          <a:p>
            <a:pPr/>
            <a:r>
              <a:t>Intrinsic drive je prediktor excelentnosti</a:t>
            </a:r>
          </a:p>
        </p:txBody>
      </p:sp>
      <p:sp>
        <p:nvSpPr>
          <p:cNvPr id="227" name="Shape 9"/>
          <p:cNvSpPr/>
          <p:nvPr/>
        </p:nvSpPr>
        <p:spPr>
          <a:xfrm>
            <a:off x="4553710" y="3977640"/>
            <a:ext cx="2971803" cy="2"/>
          </a:xfrm>
          <a:prstGeom prst="line">
            <a:avLst/>
          </a:prstGeom>
          <a:ln w="12700">
            <a:solidFill>
              <a:srgbClr val="C99A3C">
                <a:alpha val="300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" name="Text 10"/>
          <p:cNvSpPr txBox="1"/>
          <p:nvPr/>
        </p:nvSpPr>
        <p:spPr>
          <a:xfrm>
            <a:off x="4553710" y="4621767"/>
            <a:ext cx="3063242" cy="631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AEB8C4"/>
                </a:solidFill>
              </a:defRPr>
            </a:lvl1pPr>
          </a:lstStyle>
          <a:p>
            <a:pPr/>
            <a:r>
              <a:t>Nik, kto sa učí hackovať pre zábavu v pondelok o pol noci, nebude priemerný zamestnanec. Motivácia predchádza talentu.</a:t>
            </a:r>
          </a:p>
        </p:txBody>
      </p:sp>
      <p:sp>
        <p:nvSpPr>
          <p:cNvPr id="229" name="Shape 11"/>
          <p:cNvSpPr/>
          <p:nvPr/>
        </p:nvSpPr>
        <p:spPr>
          <a:xfrm>
            <a:off x="8055864" y="2514600"/>
            <a:ext cx="3611882" cy="3474721"/>
          </a:xfrm>
          <a:prstGeom prst="roundRect">
            <a:avLst>
              <a:gd name="adj" fmla="val 2105"/>
            </a:avLst>
          </a:prstGeom>
          <a:solidFill>
            <a:srgbClr val="1A2F5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30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330183" y="2697478"/>
            <a:ext cx="411481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ext 12"/>
          <p:cNvSpPr txBox="1"/>
          <p:nvPr/>
        </p:nvSpPr>
        <p:spPr>
          <a:xfrm>
            <a:off x="8330182" y="3482778"/>
            <a:ext cx="306324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sz="1300">
                <a:solidFill>
                  <a:srgbClr val="0E7C7B"/>
                </a:solidFill>
              </a:defRPr>
            </a:lvl1pPr>
          </a:lstStyle>
          <a:p>
            <a:pPr/>
            <a:r>
              <a:t>Učiteľ ako objaviteľ</a:t>
            </a:r>
          </a:p>
        </p:txBody>
      </p:sp>
      <p:sp>
        <p:nvSpPr>
          <p:cNvPr id="232" name="Shape 13"/>
          <p:cNvSpPr/>
          <p:nvPr/>
        </p:nvSpPr>
        <p:spPr>
          <a:xfrm>
            <a:off x="8330183" y="3977640"/>
            <a:ext cx="2971802" cy="2"/>
          </a:xfrm>
          <a:prstGeom prst="line">
            <a:avLst/>
          </a:prstGeom>
          <a:ln w="12700">
            <a:solidFill>
              <a:srgbClr val="0E7C7B">
                <a:alpha val="300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" name="Text 14"/>
          <p:cNvSpPr txBox="1"/>
          <p:nvPr/>
        </p:nvSpPr>
        <p:spPr>
          <a:xfrm>
            <a:off x="8330182" y="4621767"/>
            <a:ext cx="3063243" cy="631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AEB8C4"/>
                </a:solidFill>
              </a:defRPr>
            </a:lvl1pPr>
          </a:lstStyle>
          <a:p>
            <a:pPr/>
            <a:r>
              <a:t>Keď navrhneš správne prostredie, talenty sa objavia sami. Tvoja úloha nie je ich vytvoriť — ale dať im miesto kde môžu svietiť.</a:t>
            </a:r>
          </a:p>
        </p:txBody>
      </p:sp>
      <p:sp>
        <p:nvSpPr>
          <p:cNvPr id="234" name="Text 15"/>
          <p:cNvSpPr txBox="1"/>
          <p:nvPr/>
        </p:nvSpPr>
        <p:spPr>
          <a:xfrm>
            <a:off x="548639" y="6262554"/>
            <a:ext cx="106984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300">
                <a:solidFill>
                  <a:srgbClr val="C99A3C"/>
                </a:solidFill>
              </a:defRPr>
            </a:lvl1pPr>
          </a:lstStyle>
          <a:p>
            <a:pPr/>
            <a:r>
              <a:t>Tvoja úloha ako učiteľa: nevytvárať talenty — dať im miesto kde sa ukážu.</a:t>
            </a:r>
          </a:p>
        </p:txBody>
      </p:sp>
      <p:sp>
        <p:nvSpPr>
          <p:cNvPr id="235" name="Text 16"/>
          <p:cNvSpPr txBox="1"/>
          <p:nvPr/>
        </p:nvSpPr>
        <p:spPr>
          <a:xfrm>
            <a:off x="11521440" y="651514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779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36" name="Text 17"/>
          <p:cNvSpPr txBox="1"/>
          <p:nvPr/>
        </p:nvSpPr>
        <p:spPr>
          <a:xfrm>
            <a:off x="548640" y="652018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3A3"/>
                </a:solidFill>
              </a:defRPr>
            </a:lvl1pPr>
          </a:lstStyle>
          <a:p>
            <a:pPr/>
            <a:r>
              <a:t>CyberGame očami hrača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 txBox="1"/>
          <p:nvPr/>
        </p:nvSpPr>
        <p:spPr>
          <a:xfrm>
            <a:off x="548640" y="515926"/>
            <a:ext cx="10058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7B"/>
                </a:solidFill>
              </a:defRPr>
            </a:lvl1pPr>
          </a:lstStyle>
          <a:p>
            <a:pPr/>
            <a:r>
              <a:t>ČO SI Z TOHO ODNIESŤ</a:t>
            </a:r>
          </a:p>
        </p:txBody>
      </p:sp>
      <p:sp>
        <p:nvSpPr>
          <p:cNvPr id="241" name="Text 1"/>
          <p:cNvSpPr txBox="1"/>
          <p:nvPr/>
        </p:nvSpPr>
        <p:spPr>
          <a:xfrm>
            <a:off x="548640" y="864869"/>
            <a:ext cx="1005840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1B233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Pre triedu — nie pre CTF platformu</a:t>
            </a:r>
          </a:p>
        </p:txBody>
      </p:sp>
      <p:sp>
        <p:nvSpPr>
          <p:cNvPr id="242" name="Shape 2"/>
          <p:cNvSpPr/>
          <p:nvPr/>
        </p:nvSpPr>
        <p:spPr>
          <a:xfrm>
            <a:off x="548640" y="1737360"/>
            <a:ext cx="530352" cy="530355"/>
          </a:xfrm>
          <a:prstGeom prst="ellipse">
            <a:avLst/>
          </a:prstGeom>
          <a:solidFill>
            <a:srgbClr val="D9EEE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43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7512" y="185623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Text 3"/>
          <p:cNvSpPr txBox="1"/>
          <p:nvPr/>
        </p:nvSpPr>
        <p:spPr>
          <a:xfrm>
            <a:off x="1298447" y="1799528"/>
            <a:ext cx="97840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B2330"/>
                </a:solidFill>
              </a:defRPr>
            </a:lvl1pPr>
          </a:lstStyle>
          <a:p>
            <a:pPr/>
            <a:r>
              <a:t>Nie výstrelok, ale potreba</a:t>
            </a:r>
          </a:p>
        </p:txBody>
      </p:sp>
      <p:sp>
        <p:nvSpPr>
          <p:cNvPr id="245" name="Text 4"/>
          <p:cNvSpPr txBox="1"/>
          <p:nvPr/>
        </p:nvSpPr>
        <p:spPr>
          <a:xfrm>
            <a:off x="1298447" y="2225855"/>
            <a:ext cx="978408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5B6779"/>
                </a:solidFill>
              </a:defRPr>
            </a:lvl1pPr>
          </a:lstStyle>
          <a:p>
            <a:pPr/>
            <a:r>
              <a:t>CTF-štýl učenia napĺňa autonómiu, kompetenciu a vzťahovosť — psychologické živiny, ktoré klasická prednáška často nedokáže dodať.</a:t>
            </a:r>
          </a:p>
        </p:txBody>
      </p:sp>
      <p:sp>
        <p:nvSpPr>
          <p:cNvPr id="246" name="Shape 5"/>
          <p:cNvSpPr/>
          <p:nvPr/>
        </p:nvSpPr>
        <p:spPr>
          <a:xfrm>
            <a:off x="548640" y="2724910"/>
            <a:ext cx="530352" cy="530356"/>
          </a:xfrm>
          <a:prstGeom prst="ellipse">
            <a:avLst/>
          </a:prstGeom>
          <a:solidFill>
            <a:srgbClr val="D9EEE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47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7512" y="284378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Text 6"/>
          <p:cNvSpPr txBox="1"/>
          <p:nvPr/>
        </p:nvSpPr>
        <p:spPr>
          <a:xfrm>
            <a:off x="1298447" y="2787081"/>
            <a:ext cx="97840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B2330"/>
                </a:solidFill>
              </a:defRPr>
            </a:lvl1pPr>
          </a:lstStyle>
          <a:p>
            <a:pPr/>
            <a:r>
              <a:t>Štruktúra sa nestratí</a:t>
            </a:r>
          </a:p>
        </p:txBody>
      </p:sp>
      <p:sp>
        <p:nvSpPr>
          <p:cNvPr id="249" name="Text 7"/>
          <p:cNvSpPr txBox="1"/>
          <p:nvPr/>
        </p:nvSpPr>
        <p:spPr>
          <a:xfrm>
            <a:off x="1298447" y="3213406"/>
            <a:ext cx="97840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5B6779"/>
                </a:solidFill>
              </a:defRPr>
            </a:lvl1pPr>
          </a:lstStyle>
          <a:p>
            <a:pPr/>
            <a:r>
              <a:t>Flow bez štruktúry stráca na zapamätaní. Reflexia, debrief a writeup robia učenie trvalým.</a:t>
            </a:r>
          </a:p>
        </p:txBody>
      </p:sp>
      <p:sp>
        <p:nvSpPr>
          <p:cNvPr id="250" name="Shape 8"/>
          <p:cNvSpPr/>
          <p:nvPr/>
        </p:nvSpPr>
        <p:spPr>
          <a:xfrm>
            <a:off x="548640" y="3712464"/>
            <a:ext cx="530352" cy="530355"/>
          </a:xfrm>
          <a:prstGeom prst="ellipse">
            <a:avLst/>
          </a:prstGeom>
          <a:solidFill>
            <a:srgbClr val="D9EEE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51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67512" y="38313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ext 9"/>
          <p:cNvSpPr txBox="1"/>
          <p:nvPr/>
        </p:nvSpPr>
        <p:spPr>
          <a:xfrm>
            <a:off x="1298447" y="3774633"/>
            <a:ext cx="97840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B2330"/>
                </a:solidFill>
              </a:defRPr>
            </a:lvl1pPr>
          </a:lstStyle>
          <a:p>
            <a:pPr/>
            <a:r>
              <a:t>Princíp, nie platforma</a:t>
            </a:r>
          </a:p>
        </p:txBody>
      </p:sp>
      <p:sp>
        <p:nvSpPr>
          <p:cNvPr id="253" name="Text 10"/>
          <p:cNvSpPr txBox="1"/>
          <p:nvPr/>
        </p:nvSpPr>
        <p:spPr>
          <a:xfrm>
            <a:off x="1298447" y="4200957"/>
            <a:ext cx="97840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5B6779"/>
                </a:solidFill>
              </a:defRPr>
            </a:lvl1pPr>
          </a:lstStyle>
          <a:p>
            <a:pPr/>
            <a:r>
              <a:t>Netreba CTF súťaž — stačí: stupňovaná výzva, okamžitá spätná väzba, jasný cieľ. Funguje v akomkoľvek predmete.</a:t>
            </a:r>
          </a:p>
        </p:txBody>
      </p:sp>
      <p:sp>
        <p:nvSpPr>
          <p:cNvPr id="254" name="Shape 11"/>
          <p:cNvSpPr/>
          <p:nvPr/>
        </p:nvSpPr>
        <p:spPr>
          <a:xfrm>
            <a:off x="548640" y="4700015"/>
            <a:ext cx="530352" cy="530355"/>
          </a:xfrm>
          <a:prstGeom prst="ellipse">
            <a:avLst/>
          </a:prstGeom>
          <a:solidFill>
            <a:srgbClr val="D9EEE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55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67512" y="48188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Text 12"/>
          <p:cNvSpPr txBox="1"/>
          <p:nvPr/>
        </p:nvSpPr>
        <p:spPr>
          <a:xfrm>
            <a:off x="1298447" y="4762186"/>
            <a:ext cx="97840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B2330"/>
                </a:solidFill>
              </a:defRPr>
            </a:lvl1pPr>
          </a:lstStyle>
          <a:p>
            <a:pPr/>
            <a:r>
              <a:t>Dizajn rozhoduje o inklúzii</a:t>
            </a:r>
          </a:p>
        </p:txBody>
      </p:sp>
      <p:sp>
        <p:nvSpPr>
          <p:cNvPr id="257" name="Text 13"/>
          <p:cNvSpPr txBox="1"/>
          <p:nvPr/>
        </p:nvSpPr>
        <p:spPr>
          <a:xfrm>
            <a:off x="1298447" y="5188510"/>
            <a:ext cx="97840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5B6779"/>
                </a:solidFill>
              </a:defRPr>
            </a:lvl1pPr>
          </a:lstStyle>
          <a:p>
            <a:pPr/>
            <a:r>
              <a:t>Forma odmeny a tímová štruktúra rozhodujú o tom, koho aktivita oslovi — nie len obtiažnosť.</a:t>
            </a:r>
          </a:p>
        </p:txBody>
      </p:sp>
      <p:sp>
        <p:nvSpPr>
          <p:cNvPr id="258" name="Text 14"/>
          <p:cNvSpPr txBox="1"/>
          <p:nvPr/>
        </p:nvSpPr>
        <p:spPr>
          <a:xfrm>
            <a:off x="11521440" y="651514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AEB8C4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59" name="Text 15"/>
          <p:cNvSpPr txBox="1"/>
          <p:nvPr/>
        </p:nvSpPr>
        <p:spPr>
          <a:xfrm>
            <a:off x="548640" y="652018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AA5B1"/>
                </a:solidFill>
              </a:defRPr>
            </a:lvl1pPr>
          </a:lstStyle>
          <a:p>
            <a:pPr/>
            <a:r>
              <a:t>CyberGame očami hrača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-2286000" y="3200399"/>
            <a:ext cx="6400800" cy="6400803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E7C7B">
                <a:alpha val="300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4" name="Text 1"/>
          <p:cNvSpPr txBox="1"/>
          <p:nvPr/>
        </p:nvSpPr>
        <p:spPr>
          <a:xfrm>
            <a:off x="822958" y="1879600"/>
            <a:ext cx="987552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8893A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Je toto zaujímavejšie ako moja práca?</a:t>
            </a:r>
          </a:p>
        </p:txBody>
      </p:sp>
      <p:sp>
        <p:nvSpPr>
          <p:cNvPr id="265" name="Text 2"/>
          <p:cNvSpPr txBox="1"/>
          <p:nvPr/>
        </p:nvSpPr>
        <p:spPr>
          <a:xfrm>
            <a:off x="822958" y="2557779"/>
            <a:ext cx="9875523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Áno. A teraz vieme presne prečo.</a:t>
            </a:r>
          </a:p>
        </p:txBody>
      </p:sp>
      <p:sp>
        <p:nvSpPr>
          <p:cNvPr id="266" name="Text 3"/>
          <p:cNvSpPr txBox="1"/>
          <p:nvPr/>
        </p:nvSpPr>
        <p:spPr>
          <a:xfrm>
            <a:off x="868680" y="3581122"/>
            <a:ext cx="9144001" cy="884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C7D0DE"/>
                </a:solidFill>
              </a:defRPr>
            </a:pPr>
            <a:r>
              <a:t>Nie preto, že hra je ľahkomyseľná a práca vážna.</a:t>
            </a:r>
          </a:p>
          <a:p>
            <a:pPr>
              <a:lnSpc>
                <a:spcPct val="140000"/>
              </a:lnSpc>
              <a:defRPr sz="1600">
                <a:solidFill>
                  <a:srgbClr val="C7D0DE"/>
                </a:solidFill>
              </a:defRPr>
            </a:pPr>
            <a:r>
              <a:t>Ale preto, že jedna z nich bola postavená na tom, čo mozog skutočne potrebuje —</a:t>
            </a:r>
          </a:p>
          <a:p>
            <a:pPr>
              <a:lnSpc>
                <a:spcPct val="140000"/>
              </a:lnSpc>
              <a:defRPr sz="1600">
                <a:solidFill>
                  <a:srgbClr val="C7D0DE"/>
                </a:solidFill>
              </a:defRPr>
            </a:pPr>
            <a:r>
              <a:t>a tá druhá zvyčajne vôbec.</a:t>
            </a:r>
          </a:p>
        </p:txBody>
      </p:sp>
      <p:sp>
        <p:nvSpPr>
          <p:cNvPr id="267" name="Shape 4"/>
          <p:cNvSpPr/>
          <p:nvPr/>
        </p:nvSpPr>
        <p:spPr>
          <a:xfrm>
            <a:off x="822960" y="4892040"/>
            <a:ext cx="10515601" cy="1051562"/>
          </a:xfrm>
          <a:prstGeom prst="roundRect">
            <a:avLst>
              <a:gd name="adj" fmla="val 5217"/>
            </a:avLst>
          </a:prstGeom>
          <a:solidFill>
            <a:srgbClr val="1A284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8" name="Text 5"/>
          <p:cNvSpPr txBox="1"/>
          <p:nvPr/>
        </p:nvSpPr>
        <p:spPr>
          <a:xfrm>
            <a:off x="1005839" y="5269033"/>
            <a:ext cx="10058401" cy="34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0E7C7B"/>
                </a:solidFill>
              </a:defRPr>
            </a:pPr>
            <a:r>
              <a:t>Zdroje: </a:t>
            </a:r>
            <a:r>
              <a:rPr b="0">
                <a:solidFill>
                  <a:srgbClr val="8893A3"/>
                </a:solidFill>
              </a:rPr>
              <a:t>Deci &amp; Ryan (2000) SDT · ISC2 Cybersecurity Workforce Study 2025 · Hapalová &amp; Beranová, AI Kompas 2025, Scio Research · World Bank / UNESCO Learning Poverty 2024 · Francis et al., CTF &amp; gender self-efficacy</a:t>
            </a:r>
          </a:p>
        </p:txBody>
      </p:sp>
      <p:sp>
        <p:nvSpPr>
          <p:cNvPr id="269" name="Text 7"/>
          <p:cNvSpPr txBox="1"/>
          <p:nvPr/>
        </p:nvSpPr>
        <p:spPr>
          <a:xfrm>
            <a:off x="4572000" y="6265086"/>
            <a:ext cx="68580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B6779"/>
                </a:solidFill>
              </a:defRPr>
            </a:lvl1pPr>
          </a:lstStyle>
          <a:p>
            <a:pPr/>
            <a:r>
              <a:t>Ivan Oravec  ·  e0sec@proton.me  ·  e0sec.github.io</a:t>
            </a:r>
          </a:p>
        </p:txBody>
      </p:sp>
      <p:sp>
        <p:nvSpPr>
          <p:cNvPr id="270" name="Text 8"/>
          <p:cNvSpPr txBox="1"/>
          <p:nvPr/>
        </p:nvSpPr>
        <p:spPr>
          <a:xfrm>
            <a:off x="11521440" y="651514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779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71" name="Text 9"/>
          <p:cNvSpPr txBox="1"/>
          <p:nvPr/>
        </p:nvSpPr>
        <p:spPr>
          <a:xfrm>
            <a:off x="548640" y="652018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3A3"/>
                </a:solidFill>
              </a:defRPr>
            </a:lvl1pPr>
          </a:lstStyle>
          <a:p>
            <a:pPr/>
            <a:r>
              <a:t>CyberGame očami hrača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Eyebrow"/>
          <p:cNvSpPr txBox="1"/>
          <p:nvPr/>
        </p:nvSpPr>
        <p:spPr>
          <a:xfrm>
            <a:off x="548640" y="515926"/>
            <a:ext cx="10058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7B"/>
                </a:solidFill>
              </a:defRPr>
            </a:lvl1pPr>
          </a:lstStyle>
          <a:p>
            <a:pPr/>
            <a:r>
              <a:t>VÝSLEDKY · CYBERGAME SLOVAKIA 2026</a:t>
            </a:r>
          </a:p>
        </p:txBody>
      </p:sp>
      <p:sp>
        <p:nvSpPr>
          <p:cNvPr id="276" name="Title"/>
          <p:cNvSpPr txBox="1"/>
          <p:nvPr/>
        </p:nvSpPr>
        <p:spPr>
          <a:xfrm>
            <a:off x="822960" y="970280"/>
            <a:ext cx="624608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Kristína Šubjaková</a:t>
            </a:r>
          </a:p>
        </p:txBody>
      </p:sp>
      <p:sp>
        <p:nvSpPr>
          <p:cNvPr id="277" name="Subtitle"/>
          <p:cNvSpPr txBox="1"/>
          <p:nvPr/>
        </p:nvSpPr>
        <p:spPr>
          <a:xfrm>
            <a:off x="822960" y="1735839"/>
            <a:ext cx="62460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E7C7B"/>
                </a:solidFill>
              </a:defRPr>
            </a:lvl1pPr>
          </a:lstStyle>
          <a:p>
            <a:pPr/>
            <a:r>
              <a:t>1. miesto · CyberGame Slovakia 2026</a:t>
            </a:r>
          </a:p>
        </p:txBody>
      </p:sp>
      <p:sp>
        <p:nvSpPr>
          <p:cNvPr id="278" name="Quote"/>
          <p:cNvSpPr txBox="1"/>
          <p:nvPr/>
        </p:nvSpPr>
        <p:spPr>
          <a:xfrm>
            <a:off x="822960" y="2169035"/>
            <a:ext cx="6246081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„Moje prvé väčšie CTF bolo CyberGame — vtedy som si uvedomila, že táto oblasť ma veľmi baví a chcem sa jej venovať viac.“</a:t>
            </a:r>
          </a:p>
        </p:txBody>
      </p:sp>
      <p:sp>
        <p:nvSpPr>
          <p:cNvPr id="279" name="Divider"/>
          <p:cNvSpPr/>
          <p:nvPr/>
        </p:nvSpPr>
        <p:spPr>
          <a:xfrm>
            <a:off x="822960" y="3550920"/>
            <a:ext cx="2011680" cy="2"/>
          </a:xfrm>
          <a:prstGeom prst="line">
            <a:avLst/>
          </a:prstGeom>
          <a:ln w="254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0" name="Bio1"/>
          <p:cNvSpPr txBox="1"/>
          <p:nvPr/>
        </p:nvSpPr>
        <p:spPr>
          <a:xfrm>
            <a:off x="822960" y="3825240"/>
            <a:ext cx="6246081" cy="484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C7D0DE"/>
                </a:solidFill>
              </a:defRPr>
            </a:lvl1pPr>
          </a:lstStyle>
          <a:p>
            <a:pPr/>
            <a:r>
              <a:t>Predtým sa venovala tvorbe webstránok a počítačovým sieťam — základ, ktorý dnes využíva v kyberbezpečnosti. V CTF súťažiach ju najviac baví Web Security a OSINT.</a:t>
            </a:r>
          </a:p>
        </p:txBody>
      </p:sp>
      <p:sp>
        <p:nvSpPr>
          <p:cNvPr id="281" name="Bio2"/>
          <p:cNvSpPr txBox="1"/>
          <p:nvPr/>
        </p:nvSpPr>
        <p:spPr>
          <a:xfrm>
            <a:off x="822960" y="4587240"/>
            <a:ext cx="6246081" cy="484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C7D0DE"/>
                </a:solidFill>
              </a:defRPr>
            </a:lvl1pPr>
          </a:lstStyle>
          <a:p>
            <a:pPr/>
            <a:r>
              <a:t>Ako ambasádorka projektu Security Girl organizovala workshopy o bezpečnosti na internete pre základné a stredné školy.</a:t>
            </a:r>
          </a:p>
        </p:txBody>
      </p:sp>
      <p:pic>
        <p:nvPicPr>
          <p:cNvPr id="282" name="Photo" descr="Phot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69040" y="868679"/>
            <a:ext cx="3800000" cy="380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64" y="0"/>
                </a:moveTo>
                <a:cubicBezTo>
                  <a:pt x="387" y="0"/>
                  <a:pt x="0" y="387"/>
                  <a:pt x="0" y="864"/>
                </a:cubicBezTo>
                <a:lnTo>
                  <a:pt x="0" y="20736"/>
                </a:lnTo>
                <a:cubicBezTo>
                  <a:pt x="0" y="21213"/>
                  <a:pt x="387" y="21600"/>
                  <a:pt x="864" y="21600"/>
                </a:cubicBezTo>
                <a:lnTo>
                  <a:pt x="20736" y="21600"/>
                </a:lnTo>
                <a:cubicBezTo>
                  <a:pt x="21213" y="21600"/>
                  <a:pt x="21600" y="21213"/>
                  <a:pt x="21600" y="20736"/>
                </a:cubicBezTo>
                <a:lnTo>
                  <a:pt x="21600" y="864"/>
                </a:lnTo>
                <a:cubicBezTo>
                  <a:pt x="21600" y="387"/>
                  <a:pt x="21213" y="0"/>
                  <a:pt x="20736" y="0"/>
                </a:cubicBezTo>
                <a:lnTo>
                  <a:pt x="864" y="0"/>
                </a:lnTo>
                <a:close/>
              </a:path>
            </a:pathLst>
          </a:custGeom>
          <a:ln w="19050">
            <a:solidFill>
              <a:srgbClr val="0E7C7B">
                <a:alpha val="55000"/>
              </a:srgbClr>
            </a:solidFill>
          </a:ln>
        </p:spPr>
      </p:pic>
      <p:sp>
        <p:nvSpPr>
          <p:cNvPr id="283" name="StatCard"/>
          <p:cNvSpPr/>
          <p:nvPr/>
        </p:nvSpPr>
        <p:spPr>
          <a:xfrm>
            <a:off x="7569040" y="4800600"/>
            <a:ext cx="3800001" cy="868681"/>
          </a:xfrm>
          <a:prstGeom prst="roundRect">
            <a:avLst>
              <a:gd name="adj" fmla="val 5185"/>
            </a:avLst>
          </a:prstGeom>
          <a:solidFill>
            <a:srgbClr val="1A2F5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4" name="StatLine1"/>
          <p:cNvSpPr txBox="1"/>
          <p:nvPr/>
        </p:nvSpPr>
        <p:spPr>
          <a:xfrm>
            <a:off x="7706359" y="4948103"/>
            <a:ext cx="352544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E7C7B"/>
                </a:solidFill>
              </a:defRPr>
            </a:lvl1pPr>
          </a:lstStyle>
          <a:p>
            <a:pPr/>
            <a:r>
              <a:t>3× majsterka SR v šachu</a:t>
            </a:r>
          </a:p>
        </p:txBody>
      </p:sp>
      <p:sp>
        <p:nvSpPr>
          <p:cNvPr id="285" name="StatLine2"/>
          <p:cNvSpPr txBox="1"/>
          <p:nvPr/>
        </p:nvSpPr>
        <p:spPr>
          <a:xfrm>
            <a:off x="7706359" y="5275384"/>
            <a:ext cx="352544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AEB8C4"/>
                </a:solidFill>
              </a:defRPr>
            </a:lvl1pPr>
          </a:lstStyle>
          <a:p>
            <a:pPr/>
            <a:r>
              <a:t>3. miesto, ME v rapid šachu</a:t>
            </a:r>
          </a:p>
        </p:txBody>
      </p:sp>
      <p:sp>
        <p:nvSpPr>
          <p:cNvPr id="286" name="PageNum"/>
          <p:cNvSpPr txBox="1"/>
          <p:nvPr/>
        </p:nvSpPr>
        <p:spPr>
          <a:xfrm>
            <a:off x="11521440" y="651514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779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87" name="FooterLabel"/>
          <p:cNvSpPr txBox="1"/>
          <p:nvPr/>
        </p:nvSpPr>
        <p:spPr>
          <a:xfrm>
            <a:off x="548640" y="652018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3A3"/>
                </a:solidFill>
              </a:defRPr>
            </a:lvl1pPr>
          </a:lstStyle>
          <a:p>
            <a:pPr/>
            <a:r>
              <a:t>CyberGame očami hráča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